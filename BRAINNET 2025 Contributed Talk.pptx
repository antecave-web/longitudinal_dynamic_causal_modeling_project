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DM Sans Medium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22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22" orient="horz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DMSansMedium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Medium-boldItalic.fntdata"/><Relationship Id="rId30" Type="http://schemas.openxmlformats.org/officeDocument/2006/relationships/font" Target="fonts/DMSansMedium-italic.fntdata"/><Relationship Id="rId11" Type="http://schemas.openxmlformats.org/officeDocument/2006/relationships/slide" Target="slides/slide6.xml"/><Relationship Id="rId33" Type="http://schemas.openxmlformats.org/officeDocument/2006/relationships/font" Target="fonts/DMSans-bold.fntdata"/><Relationship Id="rId10" Type="http://schemas.openxmlformats.org/officeDocument/2006/relationships/slide" Target="slides/slide5.xml"/><Relationship Id="rId32" Type="http://schemas.openxmlformats.org/officeDocument/2006/relationships/font" Target="fonts/DMSans-regular.fntdata"/><Relationship Id="rId13" Type="http://schemas.openxmlformats.org/officeDocument/2006/relationships/slide" Target="slides/slide8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7.xml"/><Relationship Id="rId34" Type="http://schemas.openxmlformats.org/officeDocument/2006/relationships/font" Target="fonts/DM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0a6ddc5a5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50a6ddc5a5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e738530b2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4e738530b2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0a6ddc5a5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50a6ddc5a5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0a6ddc5a5_0_2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50a6ddc5a5_0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0a6ddc5a5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50a6ddc5a5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0a6ddc5a5_0_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50a6ddc5a5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0a6ddc5a5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50a6ddc5a5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0a6ddc5a5_0_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50a6ddc5a5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0a6ddc5a5_0_1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50a6ddc5a5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0a6ddc5a5_0_2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50a6ddc5a5_0_2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0a6ddc5a5_0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50a6ddc5a5_0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0a6ddc5a5_0_1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50a6ddc5a5_0_1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0a6ddc5a5_0_1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50a6ddc5a5_0_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0a6ddc5a5_0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DM Sans"/>
                <a:ea typeface="DM Sans"/>
                <a:cs typeface="DM Sans"/>
                <a:sym typeface="DM Sans"/>
              </a:rPr>
              <a:t>PEB prediction x math corr. vs. delta task aktivity x math corr.</a:t>
            </a:r>
            <a:endParaRPr/>
          </a:p>
        </p:txBody>
      </p:sp>
      <p:sp>
        <p:nvSpPr>
          <p:cNvPr id="287" name="Google Shape;287;g350a6ddc5a5_0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e738530b2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4e738530b2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0a6ddc5a5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50a6ddc5a5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e738530b2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4e738530b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0a6ddc5a5_0_1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50a6ddc5a5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0a6ddc5a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50a6ddc5a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lide" showMasterSp="0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ype Karolinska Institutet.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1478" y="262850"/>
            <a:ext cx="1691680" cy="70486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545332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685800" y="2553444"/>
            <a:ext cx="77724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  <a:defRPr sz="1800">
                <a:solidFill>
                  <a:srgbClr val="FFFFFF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56774" y="1402829"/>
            <a:ext cx="8631243" cy="319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SzPts val="1600"/>
              <a:buChar char="🡪"/>
              <a:defRPr>
                <a:solidFill>
                  <a:schemeClr val="dk1"/>
                </a:solidFill>
              </a:defRPr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SzPts val="1200"/>
              <a:buChar char="🡪"/>
              <a:defRPr>
                <a:solidFill>
                  <a:schemeClr val="dk1"/>
                </a:solidFill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043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 showMasterSp="0">
  <p:cSld name="Closing slide">
    <p:bg>
      <p:bgPr>
        <a:solidFill>
          <a:schemeClr val="accen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ype Karolinska Institutet."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96951" y="1915479"/>
            <a:ext cx="3150096" cy="1312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 showMasterSp="0">
  <p:cSld name="Section slide">
    <p:bg>
      <p:bgPr>
        <a:solidFill>
          <a:srgbClr val="EDF4F4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1" type="ftr"/>
          </p:nvPr>
        </p:nvSpPr>
        <p:spPr>
          <a:xfrm>
            <a:off x="255983" y="5280620"/>
            <a:ext cx="28038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043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6623447" y="5278502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299847" y="5278502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" name="Google Shape;31;p5"/>
          <p:cNvSpPr txBox="1"/>
          <p:nvPr>
            <p:ph type="ctrTitle"/>
          </p:nvPr>
        </p:nvSpPr>
        <p:spPr>
          <a:xfrm>
            <a:off x="685800" y="1545332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rgbClr val="4F04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685800" y="2553444"/>
            <a:ext cx="77724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  <a:defRPr sz="1800">
                <a:solidFill>
                  <a:srgbClr val="4F0433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+ 2 content parts">
  <p:cSld name="Headline + 2 content par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56774" y="1402829"/>
            <a:ext cx="4170039" cy="319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711200" y="1403857"/>
            <a:ext cx="4170040" cy="3189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SzPts val="1600"/>
              <a:buChar char="🡪"/>
              <a:defRPr sz="16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SzPts val="1200"/>
              <a:buChar char="🡪"/>
              <a:defRPr sz="12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043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frame">
  <p:cSld name="Full fram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+ 1 content and 1 image">
  <p:cSld name="Headline + 1 content and 1 imag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256774" y="1402829"/>
            <a:ext cx="4170039" cy="319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4711200" y="1404631"/>
            <a:ext cx="4170040" cy="3188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043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+ 2 images">
  <p:cSld name="Headline + 2 image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255971" y="1401312"/>
            <a:ext cx="4170038" cy="31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711200" y="1404631"/>
            <a:ext cx="4170040" cy="3188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043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+ 2 images m caption">
  <p:cSld name="Headline + 2 images m ca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255983" y="339502"/>
            <a:ext cx="862525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255971" y="1401312"/>
            <a:ext cx="4170038" cy="25201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255971" y="4016459"/>
            <a:ext cx="4170039" cy="578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3" type="body"/>
          </p:nvPr>
        </p:nvSpPr>
        <p:spPr>
          <a:xfrm>
            <a:off x="4711200" y="1404632"/>
            <a:ext cx="4170040" cy="251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4" type="body"/>
          </p:nvPr>
        </p:nvSpPr>
        <p:spPr>
          <a:xfrm>
            <a:off x="4711200" y="4016459"/>
            <a:ext cx="4170039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043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Only 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4F0433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0" type="dt"/>
          </p:nvPr>
        </p:nvSpPr>
        <p:spPr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sz="80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and text" showMasterSp="0">
  <p:cSld name="Closing slide and text">
    <p:bg>
      <p:bgPr>
        <a:solidFill>
          <a:schemeClr val="accen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type Karolinska Institutet." id="71" name="Google Shape;7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96951" y="1915479"/>
            <a:ext cx="3150096" cy="13125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255971" y="4299942"/>
            <a:ext cx="8564501" cy="578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🡪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55983" y="339502"/>
            <a:ext cx="862525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accen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55983" y="1402830"/>
            <a:ext cx="8630513" cy="3185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🡪"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🡪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28600" lvl="5" marL="27432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28600" lvl="6" marL="32004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28600" lvl="7" marL="36576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28600" lvl="8" marL="4114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685800" y="1545332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Longitudinal Dynamic Causal Modeling of fMRI for the Detection &amp; Evaluation of Learning Gains in Children after Cognitive Interventions.</a:t>
            </a:r>
            <a:endParaRPr/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685800" y="3227644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GB"/>
              <a:t>Andreas Lidström</a:t>
            </a:r>
            <a:endParaRPr/>
          </a:p>
        </p:txBody>
      </p:sp>
      <p:pic>
        <p:nvPicPr>
          <p:cNvPr id="79" name="Google Shape;79;p13" title="image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849" y="2658925"/>
            <a:ext cx="2903125" cy="20524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/>
        </p:nvSpPr>
        <p:spPr>
          <a:xfrm>
            <a:off x="6252261" y="4360100"/>
            <a:ext cx="28575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BRAINNET WORKSHOP 2025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&amp; RQs</a:t>
            </a:r>
            <a:endParaRPr/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</a:t>
            </a:r>
            <a:r>
              <a:rPr lang="en-GB"/>
              <a:t>ow </a:t>
            </a:r>
            <a:r>
              <a:rPr b="1" lang="en-GB"/>
              <a:t>Educational Interventions</a:t>
            </a:r>
            <a:r>
              <a:rPr lang="en-GB"/>
              <a:t> influence the developing brain is central to  Developmental- and Educational Cognitive Neuroscience.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Lots of focus on </a:t>
            </a:r>
            <a:r>
              <a:rPr b="1" lang="en-GB"/>
              <a:t>Mathematical Abilities</a:t>
            </a:r>
            <a:r>
              <a:rPr lang="en-GB"/>
              <a:t>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Neuroimaging</a:t>
            </a:r>
            <a:r>
              <a:rPr lang="en-GB"/>
              <a:t> has the potential to evaluate </a:t>
            </a:r>
            <a:r>
              <a:rPr b="1" lang="en-GB"/>
              <a:t>Neural Mechanisms of Learning</a:t>
            </a:r>
            <a:r>
              <a:rPr lang="en-GB"/>
              <a:t> and identify markers of </a:t>
            </a:r>
            <a:r>
              <a:rPr b="1" lang="en-GB"/>
              <a:t>Effective Training</a:t>
            </a:r>
            <a:r>
              <a:rPr lang="en-GB"/>
              <a:t>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However, it remains unclear whether changes in </a:t>
            </a:r>
            <a:r>
              <a:rPr b="1" lang="en-GB"/>
              <a:t>Brain Activation</a:t>
            </a:r>
            <a:r>
              <a:rPr lang="en-GB"/>
              <a:t> or </a:t>
            </a:r>
            <a:r>
              <a:rPr b="1" lang="en-GB"/>
              <a:t>Connectivity</a:t>
            </a:r>
            <a:r>
              <a:rPr lang="en-GB"/>
              <a:t> is more sensitive index of </a:t>
            </a:r>
            <a:r>
              <a:rPr b="1" lang="en-GB"/>
              <a:t>Training-Related</a:t>
            </a:r>
            <a:r>
              <a:rPr lang="en-GB"/>
              <a:t> </a:t>
            </a:r>
            <a:r>
              <a:rPr b="1" lang="en-GB"/>
              <a:t>Plasticity</a:t>
            </a:r>
            <a:r>
              <a:rPr lang="en-GB"/>
              <a:t>.</a:t>
            </a:r>
            <a:endParaRPr/>
          </a:p>
        </p:txBody>
      </p:sp>
      <p:sp>
        <p:nvSpPr>
          <p:cNvPr id="87" name="Google Shape;87;p14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88" name="Google Shape;88;p14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&amp; RQs</a:t>
            </a:r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256774" y="1402829"/>
            <a:ext cx="8631243" cy="319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recent</a:t>
            </a:r>
            <a:r>
              <a:rPr lang="en-GB"/>
              <a:t> systematic review found </a:t>
            </a:r>
            <a:r>
              <a:rPr b="1" lang="en-GB"/>
              <a:t>inconsistent patterns of directionality</a:t>
            </a:r>
            <a:r>
              <a:rPr lang="en-GB"/>
              <a:t> in BOLD activity changes across WM training studies, suggesting that neural adaptations may be nonlinear or heterogeneous (Schiöth, 2020).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These inconsistencies highlight the need for models that capture network-level reorganization, such as changes in </a:t>
            </a:r>
            <a:r>
              <a:rPr b="1" lang="en-GB"/>
              <a:t>connectivity</a:t>
            </a:r>
            <a:r>
              <a:rPr lang="en-GB"/>
              <a:t>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>
            <p:ph idx="11" type="ftr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</a:t>
            </a:r>
            <a:r>
              <a:rPr lang="en-GB"/>
              <a:t>e analyzed l</a:t>
            </a:r>
            <a:r>
              <a:rPr b="1" lang="en-GB"/>
              <a:t>ongitudinal fMRI</a:t>
            </a:r>
            <a:r>
              <a:rPr lang="en-GB"/>
              <a:t> data from 54 six-year-olds who underwent one of several cognitive training-programs: </a:t>
            </a:r>
            <a:r>
              <a:rPr b="1" lang="en-GB"/>
              <a:t>working memory</a:t>
            </a:r>
            <a:r>
              <a:rPr lang="en-GB"/>
              <a:t>(WM), </a:t>
            </a:r>
            <a:r>
              <a:rPr b="1" lang="en-GB"/>
              <a:t>Mathematics</a:t>
            </a:r>
            <a:r>
              <a:rPr lang="en-GB"/>
              <a:t>, or </a:t>
            </a:r>
            <a:r>
              <a:rPr b="1" lang="en-GB"/>
              <a:t>both</a:t>
            </a:r>
            <a:r>
              <a:rPr lang="en-GB"/>
              <a:t> from the 239 children from Nemmi et al., 2016.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These children had been training using the Vektor training app ~30min/day for ~8 weeks.</a:t>
            </a:r>
            <a:endParaRPr/>
          </a:p>
        </p:txBody>
      </p:sp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106" name="Google Shape;106;p16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participants performed a VSWM task where they had to remember the positions of either 2 or 4 objects appearing in sequence within a 4x4 grid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After a delay, respond yes or no to indicate whether a final cued position is in any of the spaces previously in the sequence.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Dynamic causal modeling (</a:t>
            </a:r>
            <a:r>
              <a:rPr b="1" lang="en-GB"/>
              <a:t>DCM</a:t>
            </a:r>
            <a:r>
              <a:rPr lang="en-GB"/>
              <a:t>) provides a framework for quantifying </a:t>
            </a:r>
            <a:r>
              <a:rPr b="1" lang="en-GB"/>
              <a:t>directed connectivity</a:t>
            </a:r>
            <a:r>
              <a:rPr lang="en-GB"/>
              <a:t> between brain regions (Friston et al., 2003).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115" name="Google Shape;115;p17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256775" y="3985528"/>
            <a:ext cx="8631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GB" sz="1300"/>
              <a:t>Marreiros, A. C., Stephan, K. E., &amp; Friston, K. J. (2010). Dynamic causal modeling. Scholarpedia, 5(7), 9568.</a:t>
            </a:r>
            <a:endParaRPr i="1" sz="1300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300"/>
          </a:p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123" name="Google Shape;123;p18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850" y="214849"/>
            <a:ext cx="5027580" cy="3770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DCM</a:t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000" y="1440126"/>
            <a:ext cx="1387800" cy="14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calculated mathematical improvement rate in the full study sample by analyzing their number-line task performance over time.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Average Difficulty level of Correctly Solved Trials every day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Improvement computed as the linear approximation between the first session and their highest performance peak.</a:t>
            </a:r>
            <a:endParaRPr/>
          </a:p>
        </p:txBody>
      </p:sp>
      <p:sp>
        <p:nvSpPr>
          <p:cNvPr id="134" name="Google Shape;134;p19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135" name="Google Shape;135;p19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136" name="Google Shape;136;p19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Behavioral Results from full Original Study Sample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GB"/>
              <a:t> Math i</a:t>
            </a:r>
            <a:r>
              <a:rPr i="1" lang="en-GB"/>
              <a:t>mprovement.</a:t>
            </a:r>
            <a:r>
              <a:rPr i="1" lang="en-GB"/>
              <a:t> Combined </a:t>
            </a:r>
            <a:r>
              <a:rPr i="1" lang="en-GB"/>
              <a:t>WMT&amp;NLT group vs. NLT only group</a:t>
            </a:r>
            <a:endParaRPr i="1"/>
          </a:p>
        </p:txBody>
      </p:sp>
      <p:sp>
        <p:nvSpPr>
          <p:cNvPr id="143" name="Google Shape;143;p20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144" name="Google Shape;144;p20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205" y="835025"/>
            <a:ext cx="7109589" cy="319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8205569" y="2219636"/>
            <a:ext cx="5382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*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8083625" y="2166125"/>
            <a:ext cx="119400" cy="4602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GLM Results -&gt; Dynamic Causal Modeling</a:t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GB"/>
              <a:t> WM task activity.	p(uncorrected)&lt;0.001 clusters for display.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GB"/>
              <a:t> 	Whole-Brain p(FWE-corrected)&lt;0.05 peak </a:t>
            </a:r>
            <a:r>
              <a:rPr i="1" lang="en-GB"/>
              <a:t>statistics</a:t>
            </a:r>
            <a:r>
              <a:rPr i="1" lang="en-GB"/>
              <a:t>.</a:t>
            </a:r>
            <a:endParaRPr i="1"/>
          </a:p>
        </p:txBody>
      </p:sp>
      <p:sp>
        <p:nvSpPr>
          <p:cNvPr id="155" name="Google Shape;155;p21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156" name="Google Shape;156;p21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537" t="0"/>
          <a:stretch/>
        </p:blipFill>
        <p:spPr>
          <a:xfrm>
            <a:off x="256775" y="1382100"/>
            <a:ext cx="8585426" cy="23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/>
          <p:nvPr/>
        </p:nvSpPr>
        <p:spPr>
          <a:xfrm>
            <a:off x="173375" y="1196900"/>
            <a:ext cx="385200" cy="6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3116500" y="1100575"/>
            <a:ext cx="385200" cy="6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113125" y="1100575"/>
            <a:ext cx="385200" cy="6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048419" y="2936666"/>
            <a:ext cx="5382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*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3120750" y="2059079"/>
            <a:ext cx="5382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*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3732060" y="2808247"/>
            <a:ext cx="5382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✝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DCM model selection and quality control</a:t>
            </a:r>
            <a:endParaRPr/>
          </a:p>
        </p:txBody>
      </p:sp>
      <p:sp>
        <p:nvSpPr>
          <p:cNvPr id="170" name="Google Shape;170;p22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171" name="Google Shape;171;p22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1467125" y="213225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DM Sans"/>
                <a:ea typeface="DM Sans"/>
                <a:cs typeface="DM Sans"/>
                <a:sym typeface="DM Sans"/>
              </a:rPr>
              <a:t>lCalc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3059775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DM Sans"/>
                <a:ea typeface="DM Sans"/>
                <a:cs typeface="DM Sans"/>
                <a:sym typeface="DM Sans"/>
              </a:rPr>
              <a:t>lSPL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3059775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rSPL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5241200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lSFG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5241200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DM Sans"/>
                <a:ea typeface="DM Sans"/>
                <a:cs typeface="DM Sans"/>
                <a:sym typeface="DM Sans"/>
              </a:rPr>
              <a:t>rSFG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78" name="Google Shape;178;p22"/>
          <p:cNvCxnSpPr>
            <a:stCxn id="173" idx="7"/>
            <a:endCxn id="174" idx="2"/>
          </p:cNvCxnSpPr>
          <p:nvPr/>
        </p:nvCxnSpPr>
        <p:spPr>
          <a:xfrm flipH="1" rot="10800000">
            <a:off x="2097047" y="1506828"/>
            <a:ext cx="962700" cy="73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2"/>
          <p:cNvCxnSpPr>
            <a:endCxn id="175" idx="2"/>
          </p:cNvCxnSpPr>
          <p:nvPr/>
        </p:nvCxnSpPr>
        <p:spPr>
          <a:xfrm>
            <a:off x="2097075" y="2762300"/>
            <a:ext cx="962700" cy="78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2"/>
          <p:cNvCxnSpPr>
            <a:stCxn id="174" idx="6"/>
            <a:endCxn id="176" idx="2"/>
          </p:cNvCxnSpPr>
          <p:nvPr/>
        </p:nvCxnSpPr>
        <p:spPr>
          <a:xfrm>
            <a:off x="3797775" y="1506775"/>
            <a:ext cx="1443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2"/>
          <p:cNvCxnSpPr>
            <a:stCxn id="175" idx="6"/>
            <a:endCxn id="177" idx="2"/>
          </p:cNvCxnSpPr>
          <p:nvPr/>
        </p:nvCxnSpPr>
        <p:spPr>
          <a:xfrm>
            <a:off x="3797775" y="3549200"/>
            <a:ext cx="1443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2"/>
          <p:cNvCxnSpPr>
            <a:stCxn id="177" idx="0"/>
            <a:endCxn id="176" idx="4"/>
          </p:cNvCxnSpPr>
          <p:nvPr/>
        </p:nvCxnSpPr>
        <p:spPr>
          <a:xfrm rot="10800000">
            <a:off x="5610200" y="1875800"/>
            <a:ext cx="0" cy="130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2"/>
          <p:cNvCxnSpPr>
            <a:stCxn id="174" idx="4"/>
            <a:endCxn id="175" idx="0"/>
          </p:cNvCxnSpPr>
          <p:nvPr/>
        </p:nvCxnSpPr>
        <p:spPr>
          <a:xfrm>
            <a:off x="3428775" y="1875775"/>
            <a:ext cx="0" cy="130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DCM model selection and quality control</a:t>
            </a:r>
            <a:endParaRPr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256775" y="4136112"/>
            <a:ext cx="8631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GB"/>
              <a:t>‘Full’ data-driven model vs. biologically plausible model. pxp = 0.318 vs </a:t>
            </a:r>
            <a:r>
              <a:rPr i="1" lang="en-GB"/>
              <a:t>0.681</a:t>
            </a:r>
            <a:endParaRPr i="1"/>
          </a:p>
        </p:txBody>
      </p:sp>
      <p:sp>
        <p:nvSpPr>
          <p:cNvPr id="190" name="Google Shape;190;p23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191" name="Google Shape;191;p23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192" name="Google Shape;192;p23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1467125" y="213225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3059775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3059775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5241200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5241200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98" name="Google Shape;198;p23"/>
          <p:cNvCxnSpPr>
            <a:stCxn id="193" idx="7"/>
            <a:endCxn id="194" idx="2"/>
          </p:cNvCxnSpPr>
          <p:nvPr/>
        </p:nvCxnSpPr>
        <p:spPr>
          <a:xfrm flipH="1" rot="10800000">
            <a:off x="2097047" y="1506828"/>
            <a:ext cx="962700" cy="73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3"/>
          <p:cNvCxnSpPr>
            <a:endCxn id="195" idx="2"/>
          </p:cNvCxnSpPr>
          <p:nvPr/>
        </p:nvCxnSpPr>
        <p:spPr>
          <a:xfrm>
            <a:off x="2097075" y="2762300"/>
            <a:ext cx="962700" cy="78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3"/>
          <p:cNvCxnSpPr>
            <a:stCxn id="194" idx="6"/>
            <a:endCxn id="196" idx="2"/>
          </p:cNvCxnSpPr>
          <p:nvPr/>
        </p:nvCxnSpPr>
        <p:spPr>
          <a:xfrm>
            <a:off x="3797775" y="1506775"/>
            <a:ext cx="1443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3"/>
          <p:cNvCxnSpPr>
            <a:stCxn id="195" idx="6"/>
            <a:endCxn id="197" idx="2"/>
          </p:cNvCxnSpPr>
          <p:nvPr/>
        </p:nvCxnSpPr>
        <p:spPr>
          <a:xfrm>
            <a:off x="3797775" y="3549200"/>
            <a:ext cx="1443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3"/>
          <p:cNvCxnSpPr>
            <a:stCxn id="197" idx="0"/>
            <a:endCxn id="196" idx="4"/>
          </p:cNvCxnSpPr>
          <p:nvPr/>
        </p:nvCxnSpPr>
        <p:spPr>
          <a:xfrm rot="10800000">
            <a:off x="5610200" y="1875800"/>
            <a:ext cx="0" cy="130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3"/>
          <p:cNvCxnSpPr>
            <a:stCxn id="195" idx="7"/>
            <a:endCxn id="196" idx="3"/>
          </p:cNvCxnSpPr>
          <p:nvPr/>
        </p:nvCxnSpPr>
        <p:spPr>
          <a:xfrm flipH="1" rot="10800000">
            <a:off x="3689697" y="1767578"/>
            <a:ext cx="1659600" cy="152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3"/>
          <p:cNvCxnSpPr>
            <a:stCxn id="194" idx="5"/>
            <a:endCxn id="197" idx="1"/>
          </p:cNvCxnSpPr>
          <p:nvPr/>
        </p:nvCxnSpPr>
        <p:spPr>
          <a:xfrm>
            <a:off x="3689697" y="1767697"/>
            <a:ext cx="1659600" cy="152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3"/>
          <p:cNvCxnSpPr>
            <a:stCxn id="194" idx="4"/>
            <a:endCxn id="195" idx="0"/>
          </p:cNvCxnSpPr>
          <p:nvPr/>
        </p:nvCxnSpPr>
        <p:spPr>
          <a:xfrm>
            <a:off x="3428775" y="1875775"/>
            <a:ext cx="0" cy="130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3"/>
          <p:cNvCxnSpPr>
            <a:stCxn id="193" idx="6"/>
            <a:endCxn id="196" idx="3"/>
          </p:cNvCxnSpPr>
          <p:nvPr/>
        </p:nvCxnSpPr>
        <p:spPr>
          <a:xfrm flipH="1" rot="10800000">
            <a:off x="2205125" y="1767750"/>
            <a:ext cx="3144300" cy="73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3"/>
          <p:cNvCxnSpPr>
            <a:stCxn id="193" idx="6"/>
            <a:endCxn id="197" idx="1"/>
          </p:cNvCxnSpPr>
          <p:nvPr/>
        </p:nvCxnSpPr>
        <p:spPr>
          <a:xfrm>
            <a:off x="2205125" y="2501250"/>
            <a:ext cx="3144300" cy="78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3"/>
          <p:cNvSpPr/>
          <p:nvPr/>
        </p:nvSpPr>
        <p:spPr>
          <a:xfrm>
            <a:off x="1467125" y="213225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DM Sans"/>
                <a:ea typeface="DM Sans"/>
                <a:cs typeface="DM Sans"/>
                <a:sym typeface="DM Sans"/>
              </a:rPr>
              <a:t>lCalc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3059775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DM Sans"/>
                <a:ea typeface="DM Sans"/>
                <a:cs typeface="DM Sans"/>
                <a:sym typeface="DM Sans"/>
              </a:rPr>
              <a:t>lSPL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3059775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rSPL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5241200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lSFG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241200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DM Sans"/>
                <a:ea typeface="DM Sans"/>
                <a:cs typeface="DM Sans"/>
                <a:sym typeface="DM Sans"/>
              </a:rPr>
              <a:t>rSFG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DCM model selection and quality control</a:t>
            </a:r>
            <a:endParaRPr/>
          </a:p>
        </p:txBody>
      </p:sp>
      <p:sp>
        <p:nvSpPr>
          <p:cNvPr id="218" name="Google Shape;218;p24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219" name="Google Shape;219;p24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220" name="Google Shape;220;p24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1467125" y="213225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DM Sans"/>
                <a:ea typeface="DM Sans"/>
                <a:cs typeface="DM Sans"/>
                <a:sym typeface="DM Sans"/>
              </a:rPr>
              <a:t>lCalc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3059775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DM Sans"/>
                <a:ea typeface="DM Sans"/>
                <a:cs typeface="DM Sans"/>
                <a:sym typeface="DM Sans"/>
              </a:rPr>
              <a:t>lSPL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3059775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rSPL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5241200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lSFG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5241200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DM Sans"/>
                <a:ea typeface="DM Sans"/>
                <a:cs typeface="DM Sans"/>
                <a:sym typeface="DM Sans"/>
              </a:rPr>
              <a:t>rSFG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26" name="Google Shape;226;p24"/>
          <p:cNvCxnSpPr>
            <a:stCxn id="221" idx="7"/>
            <a:endCxn id="222" idx="2"/>
          </p:cNvCxnSpPr>
          <p:nvPr/>
        </p:nvCxnSpPr>
        <p:spPr>
          <a:xfrm flipH="1" rot="10800000">
            <a:off x="2097047" y="1506828"/>
            <a:ext cx="962700" cy="73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24"/>
          <p:cNvCxnSpPr>
            <a:endCxn id="223" idx="2"/>
          </p:cNvCxnSpPr>
          <p:nvPr/>
        </p:nvCxnSpPr>
        <p:spPr>
          <a:xfrm>
            <a:off x="2097075" y="2762300"/>
            <a:ext cx="962700" cy="78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4"/>
          <p:cNvCxnSpPr>
            <a:stCxn id="222" idx="6"/>
            <a:endCxn id="224" idx="2"/>
          </p:cNvCxnSpPr>
          <p:nvPr/>
        </p:nvCxnSpPr>
        <p:spPr>
          <a:xfrm>
            <a:off x="3797775" y="1506775"/>
            <a:ext cx="1443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4"/>
          <p:cNvCxnSpPr>
            <a:stCxn id="223" idx="6"/>
            <a:endCxn id="225" idx="2"/>
          </p:cNvCxnSpPr>
          <p:nvPr/>
        </p:nvCxnSpPr>
        <p:spPr>
          <a:xfrm>
            <a:off x="3797775" y="3549200"/>
            <a:ext cx="1443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4"/>
          <p:cNvCxnSpPr>
            <a:stCxn id="225" idx="0"/>
            <a:endCxn id="224" idx="4"/>
          </p:cNvCxnSpPr>
          <p:nvPr/>
        </p:nvCxnSpPr>
        <p:spPr>
          <a:xfrm rot="10800000">
            <a:off x="5610200" y="1875800"/>
            <a:ext cx="0" cy="130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4"/>
          <p:cNvCxnSpPr>
            <a:stCxn id="222" idx="4"/>
            <a:endCxn id="223" idx="0"/>
          </p:cNvCxnSpPr>
          <p:nvPr/>
        </p:nvCxnSpPr>
        <p:spPr>
          <a:xfrm>
            <a:off x="3428775" y="1875775"/>
            <a:ext cx="0" cy="130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4"/>
          <p:cNvSpPr txBox="1"/>
          <p:nvPr/>
        </p:nvSpPr>
        <p:spPr>
          <a:xfrm>
            <a:off x="6121475" y="1406275"/>
            <a:ext cx="2803800" cy="22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Longitudinal Approach: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T1 or T2 coded 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 a modulatory input- condition on all parameters in the model.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24"/>
          <p:cNvSpPr txBox="1"/>
          <p:nvPr>
            <p:ph idx="1" type="body"/>
          </p:nvPr>
        </p:nvSpPr>
        <p:spPr>
          <a:xfrm>
            <a:off x="256775" y="4136112"/>
            <a:ext cx="8631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GB"/>
              <a:t>‘Full’ data-driven model vs. biologically plausible model. pxp = 0.318 vs 0.681</a:t>
            </a:r>
            <a:endParaRPr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DCM model selection and quality control</a:t>
            </a:r>
            <a:endParaRPr/>
          </a:p>
        </p:txBody>
      </p:sp>
      <p:sp>
        <p:nvSpPr>
          <p:cNvPr id="239" name="Google Shape;239;p25"/>
          <p:cNvSpPr txBox="1"/>
          <p:nvPr>
            <p:ph idx="1" type="body"/>
          </p:nvPr>
        </p:nvSpPr>
        <p:spPr>
          <a:xfrm>
            <a:off x="256775" y="4061216"/>
            <a:ext cx="86313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GB"/>
              <a:t> </a:t>
            </a:r>
            <a:r>
              <a:rPr i="1" lang="en-GB"/>
              <a:t>percent of variance explained: 44.14 ± 2.48% (min=39.74, max=53.72)</a:t>
            </a:r>
            <a:endParaRPr i="1"/>
          </a:p>
        </p:txBody>
      </p:sp>
      <p:sp>
        <p:nvSpPr>
          <p:cNvPr id="240" name="Google Shape;240;p25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241" name="Google Shape;241;p25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242" name="Google Shape;242;p25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1467125" y="213225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3059775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3059775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241200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241200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48" name="Google Shape;248;p25"/>
          <p:cNvCxnSpPr>
            <a:stCxn id="243" idx="7"/>
            <a:endCxn id="244" idx="2"/>
          </p:cNvCxnSpPr>
          <p:nvPr/>
        </p:nvCxnSpPr>
        <p:spPr>
          <a:xfrm flipH="1" rot="10800000">
            <a:off x="2097047" y="1506828"/>
            <a:ext cx="962700" cy="73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5"/>
          <p:cNvCxnSpPr>
            <a:endCxn id="245" idx="2"/>
          </p:cNvCxnSpPr>
          <p:nvPr/>
        </p:nvCxnSpPr>
        <p:spPr>
          <a:xfrm>
            <a:off x="2097075" y="2762300"/>
            <a:ext cx="962700" cy="78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5"/>
          <p:cNvCxnSpPr>
            <a:stCxn id="244" idx="6"/>
            <a:endCxn id="246" idx="2"/>
          </p:cNvCxnSpPr>
          <p:nvPr/>
        </p:nvCxnSpPr>
        <p:spPr>
          <a:xfrm>
            <a:off x="3797775" y="1506775"/>
            <a:ext cx="1443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5"/>
          <p:cNvCxnSpPr>
            <a:stCxn id="245" idx="6"/>
            <a:endCxn id="247" idx="2"/>
          </p:cNvCxnSpPr>
          <p:nvPr/>
        </p:nvCxnSpPr>
        <p:spPr>
          <a:xfrm>
            <a:off x="3797775" y="3549200"/>
            <a:ext cx="1443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5"/>
          <p:cNvCxnSpPr>
            <a:stCxn id="247" idx="0"/>
            <a:endCxn id="246" idx="4"/>
          </p:cNvCxnSpPr>
          <p:nvPr/>
        </p:nvCxnSpPr>
        <p:spPr>
          <a:xfrm rot="10800000">
            <a:off x="5610200" y="1875800"/>
            <a:ext cx="0" cy="130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5"/>
          <p:cNvCxnSpPr>
            <a:stCxn id="244" idx="4"/>
            <a:endCxn id="245" idx="0"/>
          </p:cNvCxnSpPr>
          <p:nvPr/>
        </p:nvCxnSpPr>
        <p:spPr>
          <a:xfrm>
            <a:off x="3428775" y="1875775"/>
            <a:ext cx="0" cy="130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5"/>
          <p:cNvSpPr/>
          <p:nvPr/>
        </p:nvSpPr>
        <p:spPr>
          <a:xfrm>
            <a:off x="7722725" y="1180550"/>
            <a:ext cx="427800" cy="2438100"/>
          </a:xfrm>
          <a:prstGeom prst="rect">
            <a:avLst/>
          </a:prstGeom>
          <a:solidFill>
            <a:srgbClr val="C7EC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7722725" y="2588613"/>
            <a:ext cx="427800" cy="1072800"/>
          </a:xfrm>
          <a:prstGeom prst="rect">
            <a:avLst/>
          </a:prstGeom>
          <a:solidFill>
            <a:srgbClr val="54B98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7285575" y="2141600"/>
            <a:ext cx="427800" cy="1716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60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285575" y="3356575"/>
            <a:ext cx="427800" cy="1716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10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7744125" y="763500"/>
            <a:ext cx="4065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%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25"/>
          <p:cNvSpPr/>
          <p:nvPr/>
        </p:nvSpPr>
        <p:spPr>
          <a:xfrm rot="10800000">
            <a:off x="8153441" y="2503922"/>
            <a:ext cx="427800" cy="1716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8195192" y="2410326"/>
            <a:ext cx="5775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44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1467125" y="213225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DM Sans"/>
                <a:ea typeface="DM Sans"/>
                <a:cs typeface="DM Sans"/>
                <a:sym typeface="DM Sans"/>
              </a:rPr>
              <a:t>lCalc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3059775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DM Sans"/>
                <a:ea typeface="DM Sans"/>
                <a:cs typeface="DM Sans"/>
                <a:sym typeface="DM Sans"/>
              </a:rPr>
              <a:t>lSPL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3059775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rSPL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241200" y="1137775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DM Sans"/>
                <a:ea typeface="DM Sans"/>
                <a:cs typeface="DM Sans"/>
                <a:sym typeface="DM Sans"/>
              </a:rPr>
              <a:t>lSFG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241200" y="3180200"/>
            <a:ext cx="738000" cy="73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DM Sans"/>
                <a:ea typeface="DM Sans"/>
                <a:cs typeface="DM Sans"/>
                <a:sym typeface="DM Sans"/>
              </a:rPr>
              <a:t>rSFG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271" name="Google Shape;271;p26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272" name="Google Shape;272;p26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463" y="480375"/>
            <a:ext cx="5625075" cy="41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Longitudinal Results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280" name="Google Shape;280;p27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281" name="Google Shape;281;p27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2" name="Google Shape;2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251" y="480375"/>
            <a:ext cx="4752474" cy="353390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 analysis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141150" y="1105700"/>
            <a:ext cx="41811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WMT: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r=0.24, p=0.0427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NLT: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r=0.36, p=0.0036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Combined: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r=0.33, p=0.007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Math Improvement: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r=0,38, p=0.031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290" name="Google Shape;290;p28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291" name="Google Shape;291;p28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2" name="Google Shape;292;p28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C</a:t>
            </a:r>
            <a:r>
              <a:rPr lang="en-GB"/>
              <a:t>hange vs. DCM Parameter Predicting Math Improvement.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141150" y="1105700"/>
            <a:ext cx="86319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DCM-derived prediction was significantly stronger than activation level prediction in two of the nodes, with a third node trending towards significance. 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DCM r &gt;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cuneus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p = 0.126, </a:t>
            </a: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rSFG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p = 0.036*, </a:t>
            </a: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rSPL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p = 0.07, </a:t>
            </a: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lSPL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p = 0.055†, </a:t>
            </a: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lSFG</a:t>
            </a:r>
            <a:r>
              <a:rPr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p = 0.014*).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Summary</a:t>
            </a:r>
            <a:endParaRPr/>
          </a:p>
        </p:txBody>
      </p:sp>
      <p:sp>
        <p:nvSpPr>
          <p:cNvPr id="299" name="Google Shape;299;p29"/>
          <p:cNvSpPr txBox="1"/>
          <p:nvPr>
            <p:ph idx="1" type="body"/>
          </p:nvPr>
        </p:nvSpPr>
        <p:spPr>
          <a:xfrm>
            <a:off x="256775" y="1402825"/>
            <a:ext cx="87288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GLM analyses revealed Task activity, but no significant longitudinal changes.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DCM effective connectivity within the fronto-parietal network identified distinct training-related changes.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Connectivity patterns differed systematically across training-groups and were significantly associated with individual differences in mathematical improvement.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increased fronto-parietal coupling predicted gains in mathematical performance, while changes in self-inhibition in visual and frontal regions were linked to WM training.</a:t>
            </a:r>
            <a:endParaRPr/>
          </a:p>
        </p:txBody>
      </p:sp>
      <p:sp>
        <p:nvSpPr>
          <p:cNvPr id="300" name="Google Shape;300;p29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301" name="Google Shape;301;p29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302" name="Google Shape;302;p29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Discussion</a:t>
            </a:r>
            <a:endParaRPr/>
          </a:p>
        </p:txBody>
      </p:sp>
      <p:sp>
        <p:nvSpPr>
          <p:cNvPr id="308" name="Google Shape;308;p30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Activity can reflect load due to difficulty or time-on-task.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Activity can also decrease as a results of efficiency after training.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complicates interpreting both the signal and signal changes.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Connectivity</a:t>
            </a:r>
            <a:r>
              <a:rPr lang="en-GB"/>
              <a:t> is measurable regardless of </a:t>
            </a:r>
            <a:r>
              <a:rPr lang="en-GB"/>
              <a:t>activity</a:t>
            </a:r>
            <a:r>
              <a:rPr lang="en-GB"/>
              <a:t> levels.</a:t>
            </a:r>
            <a:endParaRPr/>
          </a:p>
        </p:txBody>
      </p:sp>
      <p:sp>
        <p:nvSpPr>
          <p:cNvPr id="309" name="Google Shape;309;p30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310" name="Google Shape;310;p30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311" name="Google Shape;311;p30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317" name="Google Shape;317;p31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WM is needed for mathematical operations, training VSWM or number-line tasks exclusively, or a mix of both, produces behaviorally relevant differences in effective connectivity that are not evident from analysis of activation levels using the standard GLM approach.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Effective connectivity may serve as a more sensitive and functionally meaningful marker of neuroplasticity than traditional activation-based analyses and highlights the potential of modeling network dynamics.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8" name="Google Shape;318;p31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319" name="Google Shape;319;p31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320" name="Google Shape;320;p31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2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326" name="Google Shape;326;p32"/>
          <p:cNvSpPr txBox="1"/>
          <p:nvPr>
            <p:ph idx="1" type="body"/>
          </p:nvPr>
        </p:nvSpPr>
        <p:spPr>
          <a:xfrm>
            <a:off x="256774" y="1402829"/>
            <a:ext cx="86313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</a:t>
            </a:r>
            <a:r>
              <a:rPr lang="en-GB"/>
              <a:t>hese differences arise during training, can be used to differentiate the training conditions, and can predict the rate of improvement on the mathematics tasks during the training period.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can potentially evaluate the effectiveness of interventions by measuring specific connectivity parameters that we want to promote.</a:t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27" name="Google Shape;327;p32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328" name="Google Shape;328;p32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329" name="Google Shape;329;p32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/>
          <p:nvPr>
            <p:ph type="title"/>
          </p:nvPr>
        </p:nvSpPr>
        <p:spPr>
          <a:xfrm>
            <a:off x="255971" y="339502"/>
            <a:ext cx="8631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Acknowledgements</a:t>
            </a:r>
            <a:endParaRPr/>
          </a:p>
        </p:txBody>
      </p:sp>
      <p:sp>
        <p:nvSpPr>
          <p:cNvPr id="335" name="Google Shape;335;p33"/>
          <p:cNvSpPr txBox="1"/>
          <p:nvPr>
            <p:ph idx="1" type="body"/>
          </p:nvPr>
        </p:nvSpPr>
        <p:spPr>
          <a:xfrm>
            <a:off x="445125" y="1176675"/>
            <a:ext cx="412680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Funding provided by:</a:t>
            </a:r>
            <a:endParaRPr b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36" name="Google Shape;336;p33"/>
          <p:cNvSpPr txBox="1"/>
          <p:nvPr>
            <p:ph idx="11" type="ftr"/>
          </p:nvPr>
        </p:nvSpPr>
        <p:spPr>
          <a:xfrm>
            <a:off x="255983" y="4790351"/>
            <a:ext cx="280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Karolinska Institutet - a medical university</a:t>
            </a:r>
            <a:endParaRPr/>
          </a:p>
        </p:txBody>
      </p:sp>
      <p:sp>
        <p:nvSpPr>
          <p:cNvPr id="337" name="Google Shape;337;p33"/>
          <p:cNvSpPr txBox="1"/>
          <p:nvPr>
            <p:ph idx="10" type="dt"/>
          </p:nvPr>
        </p:nvSpPr>
        <p:spPr>
          <a:xfrm>
            <a:off x="6623447" y="4788233"/>
            <a:ext cx="190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12/03/2025</a:t>
            </a:r>
            <a:endParaRPr/>
          </a:p>
        </p:txBody>
      </p:sp>
      <p:sp>
        <p:nvSpPr>
          <p:cNvPr id="338" name="Google Shape;338;p33"/>
          <p:cNvSpPr txBox="1"/>
          <p:nvPr>
            <p:ph idx="12" type="sldNum"/>
          </p:nvPr>
        </p:nvSpPr>
        <p:spPr>
          <a:xfrm>
            <a:off x="8299847" y="4788233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9" name="Google Shape;339;p33" title="IMG_881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88046"/>
            <a:ext cx="4316073" cy="3237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75" y="2666088"/>
            <a:ext cx="28575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3" title="image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324" y="3745600"/>
            <a:ext cx="1443724" cy="10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125" y="1564250"/>
            <a:ext cx="2857500" cy="9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3"/>
          <p:cNvSpPr txBox="1"/>
          <p:nvPr/>
        </p:nvSpPr>
        <p:spPr>
          <a:xfrm>
            <a:off x="4854288" y="634925"/>
            <a:ext cx="3751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Professor Torkel Klingberg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&amp; Lab Members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1230800" y="4061225"/>
            <a:ext cx="22509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BrainNet 2025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45" name="Google Shape;345;p33"/>
          <p:cNvCxnSpPr/>
          <p:nvPr/>
        </p:nvCxnSpPr>
        <p:spPr>
          <a:xfrm>
            <a:off x="445125" y="3486800"/>
            <a:ext cx="376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>
            <p:ph idx="4294967295" type="ctrTitle"/>
          </p:nvPr>
        </p:nvSpPr>
        <p:spPr>
          <a:xfrm>
            <a:off x="685800" y="630932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chemeClr val="lt1"/>
                </a:solidFill>
              </a:rPr>
              <a:t>Thank You For Your Attention!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351" name="Google Shape;351;p34"/>
          <p:cNvSpPr txBox="1"/>
          <p:nvPr>
            <p:ph idx="4294967295" type="subTitle"/>
          </p:nvPr>
        </p:nvSpPr>
        <p:spPr>
          <a:xfrm>
            <a:off x="685800" y="3227644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GB">
                <a:solidFill>
                  <a:schemeClr val="lt1"/>
                </a:solidFill>
              </a:rPr>
              <a:t>A</a:t>
            </a:r>
            <a:r>
              <a:rPr lang="en-GB">
                <a:solidFill>
                  <a:schemeClr val="lt1"/>
                </a:solidFill>
              </a:rPr>
              <a:t>ndreas.Lidstrom.2@ki.se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2" name="Google Shape;352;p34" title="image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849" y="2658925"/>
            <a:ext cx="2903125" cy="205242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 txBox="1"/>
          <p:nvPr/>
        </p:nvSpPr>
        <p:spPr>
          <a:xfrm>
            <a:off x="6252261" y="4360100"/>
            <a:ext cx="28575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BRAINNET WORKSHOP 2025</a:t>
            </a:r>
            <a:endParaRPr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6:9 Plum eng">
  <a:themeElements>
    <a:clrScheme name="KI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F0433"/>
      </a:accent1>
      <a:accent2>
        <a:srgbClr val="FF876F"/>
      </a:accent2>
      <a:accent3>
        <a:srgbClr val="870052"/>
      </a:accent3>
      <a:accent4>
        <a:srgbClr val="FFDDD6"/>
      </a:accent4>
      <a:accent5>
        <a:srgbClr val="4DB5BC"/>
      </a:accent5>
      <a:accent6>
        <a:srgbClr val="CCEBED"/>
      </a:accent6>
      <a:hlink>
        <a:srgbClr val="870052"/>
      </a:hlink>
      <a:folHlink>
        <a:srgbClr val="C490A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