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2840000" cx="3024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493">
          <p15:clr>
            <a:srgbClr val="747775"/>
          </p15:clr>
        </p15:guide>
        <p15:guide id="2" pos="95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493" orient="horz"/>
        <p:guide pos="95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9087" y="685800"/>
            <a:ext cx="2420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219087" y="685800"/>
            <a:ext cx="2420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030847" y="6201535"/>
            <a:ext cx="28178400" cy="17096100"/>
          </a:xfrm>
          <a:prstGeom prst="rect">
            <a:avLst/>
          </a:prstGeom>
        </p:spPr>
        <p:txBody>
          <a:bodyPr anchorCtr="0" anchor="b" bIns="455400" lIns="455400" spcFirstLastPara="1" rIns="455400" wrap="square" tIns="455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030819" y="23605311"/>
            <a:ext cx="28178400" cy="6601500"/>
          </a:xfrm>
          <a:prstGeom prst="rect">
            <a:avLst/>
          </a:prstGeom>
        </p:spPr>
        <p:txBody>
          <a:bodyPr anchorCtr="0" anchor="t" bIns="455400" lIns="455400" spcFirstLastPara="1" rIns="455400" wrap="square" tIns="455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8019152" y="38839741"/>
            <a:ext cx="1814700" cy="3278400"/>
          </a:xfrm>
          <a:prstGeom prst="rect">
            <a:avLst/>
          </a:prstGeom>
        </p:spPr>
        <p:txBody>
          <a:bodyPr anchorCtr="0" anchor="ctr" bIns="455400" lIns="455400" spcFirstLastPara="1" rIns="455400" wrap="square" tIns="455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030819" y="17914341"/>
            <a:ext cx="28178400" cy="7011300"/>
          </a:xfrm>
          <a:prstGeom prst="rect">
            <a:avLst/>
          </a:prstGeom>
        </p:spPr>
        <p:txBody>
          <a:bodyPr anchorCtr="0" anchor="ctr" bIns="455400" lIns="455400" spcFirstLastPara="1" rIns="455400" wrap="square" tIns="455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2pPr>
            <a:lvl3pPr lvl="2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3pPr>
            <a:lvl4pPr lvl="3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4pPr>
            <a:lvl5pPr lvl="4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5pPr>
            <a:lvl6pPr lvl="5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6pPr>
            <a:lvl7pPr lvl="6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7pPr>
            <a:lvl8pPr lvl="7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8pPr>
            <a:lvl9pPr lvl="8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28019152" y="38839741"/>
            <a:ext cx="1814700" cy="3278400"/>
          </a:xfrm>
          <a:prstGeom prst="rect">
            <a:avLst/>
          </a:prstGeom>
        </p:spPr>
        <p:txBody>
          <a:bodyPr anchorCtr="0" anchor="ctr" bIns="455400" lIns="455400" spcFirstLastPara="1" rIns="455400" wrap="square" tIns="455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030819" y="3706595"/>
            <a:ext cx="28178400" cy="4770000"/>
          </a:xfrm>
          <a:prstGeom prst="rect">
            <a:avLst/>
          </a:prstGeom>
        </p:spPr>
        <p:txBody>
          <a:bodyPr anchorCtr="0" anchor="t" bIns="455400" lIns="455400" spcFirstLastPara="1" rIns="455400" wrap="square" tIns="455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030819" y="9598917"/>
            <a:ext cx="28178400" cy="28455000"/>
          </a:xfrm>
          <a:prstGeom prst="rect">
            <a:avLst/>
          </a:prstGeom>
        </p:spPr>
        <p:txBody>
          <a:bodyPr anchorCtr="0" anchor="t" bIns="455400" lIns="455400" spcFirstLastPara="1" rIns="455400" wrap="square" tIns="455400">
            <a:normAutofit/>
          </a:bodyPr>
          <a:lstStyle>
            <a:lvl1pPr indent="-800100" lvl="0" marL="457200"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indent="-673100" lvl="1" marL="9144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indent="-673100" lvl="2" marL="13716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indent="-673100" lvl="3" marL="1828800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indent="-673100" lvl="4" marL="22860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indent="-673100" lvl="5" marL="27432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indent="-673100" lvl="6" marL="3200400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indent="-673100" lvl="7" marL="36576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indent="-673100" lvl="8" marL="41148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28019152" y="38839741"/>
            <a:ext cx="1814700" cy="3278400"/>
          </a:xfrm>
          <a:prstGeom prst="rect">
            <a:avLst/>
          </a:prstGeom>
        </p:spPr>
        <p:txBody>
          <a:bodyPr anchorCtr="0" anchor="ctr" bIns="455400" lIns="455400" spcFirstLastPara="1" rIns="455400" wrap="square" tIns="455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030819" y="3706595"/>
            <a:ext cx="28178400" cy="4770000"/>
          </a:xfrm>
          <a:prstGeom prst="rect">
            <a:avLst/>
          </a:prstGeom>
        </p:spPr>
        <p:txBody>
          <a:bodyPr anchorCtr="0" anchor="t" bIns="455400" lIns="455400" spcFirstLastPara="1" rIns="455400" wrap="square" tIns="455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030819" y="9598917"/>
            <a:ext cx="13227900" cy="28455000"/>
          </a:xfrm>
          <a:prstGeom prst="rect">
            <a:avLst/>
          </a:prstGeom>
        </p:spPr>
        <p:txBody>
          <a:bodyPr anchorCtr="0" anchor="t" bIns="455400" lIns="455400" spcFirstLastPara="1" rIns="455400" wrap="square" tIns="455400">
            <a:normAutofit/>
          </a:bodyPr>
          <a:lstStyle>
            <a:lvl1pPr indent="-673100" lvl="0" marL="457200">
              <a:spcBef>
                <a:spcPts val="0"/>
              </a:spcBef>
              <a:spcAft>
                <a:spcPts val="0"/>
              </a:spcAft>
              <a:buSzPts val="7000"/>
              <a:buChar char="●"/>
              <a:defRPr sz="7000"/>
            </a:lvl1pPr>
            <a:lvl2pPr indent="-609600" lvl="1" marL="9144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indent="-609600" lvl="2" marL="1371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indent="-609600" lvl="3" marL="18288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indent="-609600" lvl="4" marL="22860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indent="-609600" lvl="5" marL="27432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indent="-609600" lvl="6" marL="32004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indent="-609600" lvl="7" marL="3657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indent="-609600" lvl="8" marL="41148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5981165" y="9598917"/>
            <a:ext cx="13227900" cy="28455000"/>
          </a:xfrm>
          <a:prstGeom prst="rect">
            <a:avLst/>
          </a:prstGeom>
        </p:spPr>
        <p:txBody>
          <a:bodyPr anchorCtr="0" anchor="t" bIns="455400" lIns="455400" spcFirstLastPara="1" rIns="455400" wrap="square" tIns="455400">
            <a:normAutofit/>
          </a:bodyPr>
          <a:lstStyle>
            <a:lvl1pPr indent="-673100" lvl="0" marL="457200">
              <a:spcBef>
                <a:spcPts val="0"/>
              </a:spcBef>
              <a:spcAft>
                <a:spcPts val="0"/>
              </a:spcAft>
              <a:buSzPts val="7000"/>
              <a:buChar char="●"/>
              <a:defRPr sz="7000"/>
            </a:lvl1pPr>
            <a:lvl2pPr indent="-609600" lvl="1" marL="9144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indent="-609600" lvl="2" marL="1371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indent="-609600" lvl="3" marL="18288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indent="-609600" lvl="4" marL="22860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indent="-609600" lvl="5" marL="27432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indent="-609600" lvl="6" marL="32004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indent="-609600" lvl="7" marL="3657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indent="-609600" lvl="8" marL="41148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28019152" y="38839741"/>
            <a:ext cx="1814700" cy="3278400"/>
          </a:xfrm>
          <a:prstGeom prst="rect">
            <a:avLst/>
          </a:prstGeom>
        </p:spPr>
        <p:txBody>
          <a:bodyPr anchorCtr="0" anchor="ctr" bIns="455400" lIns="455400" spcFirstLastPara="1" rIns="455400" wrap="square" tIns="455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030819" y="3706595"/>
            <a:ext cx="28178400" cy="4770000"/>
          </a:xfrm>
          <a:prstGeom prst="rect">
            <a:avLst/>
          </a:prstGeom>
        </p:spPr>
        <p:txBody>
          <a:bodyPr anchorCtr="0" anchor="t" bIns="455400" lIns="455400" spcFirstLastPara="1" rIns="455400" wrap="square" tIns="455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28019152" y="38839741"/>
            <a:ext cx="1814700" cy="3278400"/>
          </a:xfrm>
          <a:prstGeom prst="rect">
            <a:avLst/>
          </a:prstGeom>
        </p:spPr>
        <p:txBody>
          <a:bodyPr anchorCtr="0" anchor="ctr" bIns="455400" lIns="455400" spcFirstLastPara="1" rIns="455400" wrap="square" tIns="455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030819" y="4627570"/>
            <a:ext cx="9286200" cy="6294300"/>
          </a:xfrm>
          <a:prstGeom prst="rect">
            <a:avLst/>
          </a:prstGeom>
        </p:spPr>
        <p:txBody>
          <a:bodyPr anchorCtr="0" anchor="b" bIns="455400" lIns="455400" spcFirstLastPara="1" rIns="455400" wrap="square" tIns="455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030819" y="11573921"/>
            <a:ext cx="9286200" cy="26481000"/>
          </a:xfrm>
          <a:prstGeom prst="rect">
            <a:avLst/>
          </a:prstGeom>
        </p:spPr>
        <p:txBody>
          <a:bodyPr anchorCtr="0" anchor="t" bIns="455400" lIns="455400" spcFirstLastPara="1" rIns="455400" wrap="square" tIns="455400">
            <a:normAutofit/>
          </a:bodyPr>
          <a:lstStyle>
            <a:lvl1pPr indent="-609600" lvl="0" marL="4572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1pPr>
            <a:lvl2pPr indent="-609600" lvl="1" marL="9144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indent="-609600" lvl="2" marL="1371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indent="-609600" lvl="3" marL="18288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indent="-609600" lvl="4" marL="22860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indent="-609600" lvl="5" marL="27432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indent="-609600" lvl="6" marL="32004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indent="-609600" lvl="7" marL="3657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indent="-609600" lvl="8" marL="41148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28019152" y="38839741"/>
            <a:ext cx="1814700" cy="3278400"/>
          </a:xfrm>
          <a:prstGeom prst="rect">
            <a:avLst/>
          </a:prstGeom>
        </p:spPr>
        <p:txBody>
          <a:bodyPr anchorCtr="0" anchor="ctr" bIns="455400" lIns="455400" spcFirstLastPara="1" rIns="455400" wrap="square" tIns="455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621299" y="3749281"/>
            <a:ext cx="21058800" cy="34072200"/>
          </a:xfrm>
          <a:prstGeom prst="rect">
            <a:avLst/>
          </a:prstGeom>
        </p:spPr>
        <p:txBody>
          <a:bodyPr anchorCtr="0" anchor="ctr" bIns="455400" lIns="455400" spcFirstLastPara="1" rIns="455400" wrap="square" tIns="455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1pPr>
            <a:lvl2pPr lvl="1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2pPr>
            <a:lvl3pPr lvl="2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3pPr>
            <a:lvl4pPr lvl="3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4pPr>
            <a:lvl5pPr lvl="4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5pPr>
            <a:lvl6pPr lvl="5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6pPr>
            <a:lvl7pPr lvl="6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7pPr>
            <a:lvl8pPr lvl="7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8pPr>
            <a:lvl9pPr lvl="8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28019152" y="38839741"/>
            <a:ext cx="1814700" cy="3278400"/>
          </a:xfrm>
          <a:prstGeom prst="rect">
            <a:avLst/>
          </a:prstGeom>
        </p:spPr>
        <p:txBody>
          <a:bodyPr anchorCtr="0" anchor="ctr" bIns="455400" lIns="455400" spcFirstLastPara="1" rIns="455400" wrap="square" tIns="455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5120000" y="-1041"/>
            <a:ext cx="15120000" cy="428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5400" lIns="455400" spcFirstLastPara="1" rIns="455400" wrap="square" tIns="45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878031" y="10271064"/>
            <a:ext cx="13377900" cy="12345900"/>
          </a:xfrm>
          <a:prstGeom prst="rect">
            <a:avLst/>
          </a:prstGeom>
        </p:spPr>
        <p:txBody>
          <a:bodyPr anchorCtr="0" anchor="b" bIns="455400" lIns="455400" spcFirstLastPara="1" rIns="455400" wrap="square" tIns="455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878031" y="23346696"/>
            <a:ext cx="13377900" cy="10287000"/>
          </a:xfrm>
          <a:prstGeom prst="rect">
            <a:avLst/>
          </a:prstGeom>
        </p:spPr>
        <p:txBody>
          <a:bodyPr anchorCtr="0" anchor="t" bIns="455400" lIns="455400" spcFirstLastPara="1" rIns="455400" wrap="square" tIns="455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6335354" y="6030791"/>
            <a:ext cx="12689400" cy="30776400"/>
          </a:xfrm>
          <a:prstGeom prst="rect">
            <a:avLst/>
          </a:prstGeom>
        </p:spPr>
        <p:txBody>
          <a:bodyPr anchorCtr="0" anchor="ctr" bIns="455400" lIns="455400" spcFirstLastPara="1" rIns="455400" wrap="square" tIns="455400">
            <a:normAutofit/>
          </a:bodyPr>
          <a:lstStyle>
            <a:lvl1pPr indent="-800100" lvl="0" marL="457200"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indent="-673100" lvl="1" marL="9144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indent="-673100" lvl="2" marL="13716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indent="-673100" lvl="3" marL="1828800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indent="-673100" lvl="4" marL="22860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indent="-673100" lvl="5" marL="27432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indent="-673100" lvl="6" marL="3200400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indent="-673100" lvl="7" marL="36576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indent="-673100" lvl="8" marL="41148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28019152" y="38839741"/>
            <a:ext cx="1814700" cy="3278400"/>
          </a:xfrm>
          <a:prstGeom prst="rect">
            <a:avLst/>
          </a:prstGeom>
        </p:spPr>
        <p:txBody>
          <a:bodyPr anchorCtr="0" anchor="ctr" bIns="455400" lIns="455400" spcFirstLastPara="1" rIns="455400" wrap="square" tIns="455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030819" y="35236285"/>
            <a:ext cx="19838700" cy="5040000"/>
          </a:xfrm>
          <a:prstGeom prst="rect">
            <a:avLst/>
          </a:prstGeom>
        </p:spPr>
        <p:txBody>
          <a:bodyPr anchorCtr="0" anchor="ctr" bIns="455400" lIns="455400" spcFirstLastPara="1" rIns="455400" wrap="square" tIns="4554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28019152" y="38839741"/>
            <a:ext cx="1814700" cy="3278400"/>
          </a:xfrm>
          <a:prstGeom prst="rect">
            <a:avLst/>
          </a:prstGeom>
        </p:spPr>
        <p:txBody>
          <a:bodyPr anchorCtr="0" anchor="ctr" bIns="455400" lIns="455400" spcFirstLastPara="1" rIns="455400" wrap="square" tIns="455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030819" y="9212870"/>
            <a:ext cx="28178400" cy="16353900"/>
          </a:xfrm>
          <a:prstGeom prst="rect">
            <a:avLst/>
          </a:prstGeom>
        </p:spPr>
        <p:txBody>
          <a:bodyPr anchorCtr="0" anchor="b" bIns="455400" lIns="455400" spcFirstLastPara="1" rIns="455400" wrap="square" tIns="455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2pPr>
            <a:lvl3pPr lvl="2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3pPr>
            <a:lvl4pPr lvl="3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4pPr>
            <a:lvl5pPr lvl="4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5pPr>
            <a:lvl6pPr lvl="5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6pPr>
            <a:lvl7pPr lvl="6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7pPr>
            <a:lvl8pPr lvl="7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8pPr>
            <a:lvl9pPr lvl="8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030819" y="26254752"/>
            <a:ext cx="28178400" cy="10834200"/>
          </a:xfrm>
          <a:prstGeom prst="rect">
            <a:avLst/>
          </a:prstGeom>
        </p:spPr>
        <p:txBody>
          <a:bodyPr anchorCtr="0" anchor="t" bIns="455400" lIns="455400" spcFirstLastPara="1" rIns="455400" wrap="square" tIns="455400">
            <a:normAutofit/>
          </a:bodyPr>
          <a:lstStyle>
            <a:lvl1pPr indent="-800100" lvl="0" marL="457200" algn="ctr"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indent="-673100" lvl="1" marL="914400" algn="ctr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indent="-673100" lvl="2" marL="1371600" algn="ctr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indent="-673100" lvl="3" marL="1828800" algn="ctr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indent="-673100" lvl="4" marL="2286000" algn="ctr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indent="-673100" lvl="5" marL="2743200" algn="ctr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indent="-673100" lvl="6" marL="3200400" algn="ctr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indent="-673100" lvl="7" marL="3657600" algn="ctr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indent="-673100" lvl="8" marL="4114800" algn="ctr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28019152" y="38839741"/>
            <a:ext cx="1814700" cy="3278400"/>
          </a:xfrm>
          <a:prstGeom prst="rect">
            <a:avLst/>
          </a:prstGeom>
        </p:spPr>
        <p:txBody>
          <a:bodyPr anchorCtr="0" anchor="ctr" bIns="455400" lIns="455400" spcFirstLastPara="1" rIns="455400" wrap="square" tIns="455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28019152" y="38839741"/>
            <a:ext cx="1814700" cy="3278400"/>
          </a:xfrm>
          <a:prstGeom prst="rect">
            <a:avLst/>
          </a:prstGeom>
        </p:spPr>
        <p:txBody>
          <a:bodyPr anchorCtr="0" anchor="ctr" bIns="455400" lIns="455400" spcFirstLastPara="1" rIns="455400" wrap="square" tIns="455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30819" y="3706595"/>
            <a:ext cx="28178400" cy="4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400" lIns="455400" spcFirstLastPara="1" rIns="455400" wrap="square" tIns="455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30819" y="9598917"/>
            <a:ext cx="28178400" cy="284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400" lIns="455400" spcFirstLastPara="1" rIns="455400" wrap="square" tIns="455400">
            <a:normAutofit/>
          </a:bodyPr>
          <a:lstStyle>
            <a:lvl1pPr indent="-800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0"/>
              <a:buChar char="●"/>
              <a:defRPr sz="9000">
                <a:solidFill>
                  <a:schemeClr val="dk2"/>
                </a:solidFill>
              </a:defRPr>
            </a:lvl1pPr>
            <a:lvl2pPr indent="-673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○"/>
              <a:defRPr sz="7000">
                <a:solidFill>
                  <a:schemeClr val="dk2"/>
                </a:solidFill>
              </a:defRPr>
            </a:lvl2pPr>
            <a:lvl3pPr indent="-673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■"/>
              <a:defRPr sz="7000">
                <a:solidFill>
                  <a:schemeClr val="dk2"/>
                </a:solidFill>
              </a:defRPr>
            </a:lvl3pPr>
            <a:lvl4pPr indent="-673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●"/>
              <a:defRPr sz="7000">
                <a:solidFill>
                  <a:schemeClr val="dk2"/>
                </a:solidFill>
              </a:defRPr>
            </a:lvl4pPr>
            <a:lvl5pPr indent="-673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○"/>
              <a:defRPr sz="7000">
                <a:solidFill>
                  <a:schemeClr val="dk2"/>
                </a:solidFill>
              </a:defRPr>
            </a:lvl5pPr>
            <a:lvl6pPr indent="-673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■"/>
              <a:defRPr sz="7000">
                <a:solidFill>
                  <a:schemeClr val="dk2"/>
                </a:solidFill>
              </a:defRPr>
            </a:lvl6pPr>
            <a:lvl7pPr indent="-673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●"/>
              <a:defRPr sz="7000">
                <a:solidFill>
                  <a:schemeClr val="dk2"/>
                </a:solidFill>
              </a:defRPr>
            </a:lvl7pPr>
            <a:lvl8pPr indent="-673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○"/>
              <a:defRPr sz="7000">
                <a:solidFill>
                  <a:schemeClr val="dk2"/>
                </a:solidFill>
              </a:defRPr>
            </a:lvl8pPr>
            <a:lvl9pPr indent="-673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■"/>
              <a:defRPr sz="7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8019152" y="38839741"/>
            <a:ext cx="1814700" cy="3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00" lIns="455400" spcFirstLastPara="1" rIns="455400" wrap="square" tIns="455400">
            <a:normAutofit/>
          </a:bodyPr>
          <a:lstStyle>
            <a:lvl1pPr lvl="0" algn="r">
              <a:buNone/>
              <a:defRPr sz="5000">
                <a:solidFill>
                  <a:schemeClr val="dk2"/>
                </a:solidFill>
              </a:defRPr>
            </a:lvl1pPr>
            <a:lvl2pPr lvl="1" algn="r">
              <a:buNone/>
              <a:defRPr sz="5000">
                <a:solidFill>
                  <a:schemeClr val="dk2"/>
                </a:solidFill>
              </a:defRPr>
            </a:lvl2pPr>
            <a:lvl3pPr lvl="2" algn="r">
              <a:buNone/>
              <a:defRPr sz="5000">
                <a:solidFill>
                  <a:schemeClr val="dk2"/>
                </a:solidFill>
              </a:defRPr>
            </a:lvl3pPr>
            <a:lvl4pPr lvl="3" algn="r">
              <a:buNone/>
              <a:defRPr sz="5000">
                <a:solidFill>
                  <a:schemeClr val="dk2"/>
                </a:solidFill>
              </a:defRPr>
            </a:lvl4pPr>
            <a:lvl5pPr lvl="4" algn="r">
              <a:buNone/>
              <a:defRPr sz="5000">
                <a:solidFill>
                  <a:schemeClr val="dk2"/>
                </a:solidFill>
              </a:defRPr>
            </a:lvl5pPr>
            <a:lvl6pPr lvl="5" algn="r">
              <a:buNone/>
              <a:defRPr sz="5000">
                <a:solidFill>
                  <a:schemeClr val="dk2"/>
                </a:solidFill>
              </a:defRPr>
            </a:lvl6pPr>
            <a:lvl7pPr lvl="6" algn="r">
              <a:buNone/>
              <a:defRPr sz="5000">
                <a:solidFill>
                  <a:schemeClr val="dk2"/>
                </a:solidFill>
              </a:defRPr>
            </a:lvl7pPr>
            <a:lvl8pPr lvl="7" algn="r">
              <a:buNone/>
              <a:defRPr sz="5000">
                <a:solidFill>
                  <a:schemeClr val="dk2"/>
                </a:solidFill>
              </a:defRPr>
            </a:lvl8pPr>
            <a:lvl9pPr lvl="8" algn="r">
              <a:buNone/>
              <a:defRPr sz="5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EEE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30240000" cy="5388900"/>
          </a:xfrm>
          <a:prstGeom prst="rect">
            <a:avLst/>
          </a:prstGeom>
          <a:solidFill>
            <a:srgbClr val="7F065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31000650" y="31674075"/>
            <a:ext cx="8577000" cy="17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>
                <a:solidFill>
                  <a:schemeClr val="dk2"/>
                </a:solidFill>
              </a:rPr>
              <a:t>84 x 119 cm</a:t>
            </a:r>
            <a:endParaRPr sz="9000">
              <a:solidFill>
                <a:schemeClr val="dk2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27500" y="34379550"/>
            <a:ext cx="6573300" cy="42726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0" y="533400"/>
            <a:ext cx="30240000" cy="4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100">
                <a:solidFill>
                  <a:schemeClr val="lt1"/>
                </a:solidFill>
              </a:rPr>
              <a:t>Neuroscience in Education:</a:t>
            </a:r>
            <a:endParaRPr b="1" sz="15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700">
                <a:solidFill>
                  <a:schemeClr val="lt1"/>
                </a:solidFill>
              </a:rPr>
              <a:t>Dynamic Causal Modeling Predicts Learning</a:t>
            </a:r>
            <a:endParaRPr sz="9700">
              <a:solidFill>
                <a:schemeClr val="lt1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0" y="39125400"/>
            <a:ext cx="30240000" cy="3714600"/>
          </a:xfrm>
          <a:prstGeom prst="rect">
            <a:avLst/>
          </a:prstGeom>
          <a:solidFill>
            <a:srgbClr val="540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" name="Google Shape;59;p13" title="ki_logo_ne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9125400"/>
            <a:ext cx="7433570" cy="37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>
            <a:off x="442025" y="34693825"/>
            <a:ext cx="29270100" cy="3898200"/>
          </a:xfrm>
          <a:prstGeom prst="rect">
            <a:avLst/>
          </a:prstGeom>
          <a:solidFill>
            <a:srgbClr val="EDF5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</a:rPr>
              <a:t>Methods:</a:t>
            </a:r>
            <a:r>
              <a:rPr lang="en" sz="2500">
                <a:solidFill>
                  <a:schemeClr val="dk1"/>
                </a:solidFill>
              </a:rPr>
              <a:t> n=54, 6 year olds, with longitudinal fMRI (pre- and post-training) from Nemmi et al., (2016). Analysed using SPM 12. 8 Weeks cognitive training using ‘Vektor’ App by Torkel Klingberg.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</a:rPr>
              <a:t>Key references:</a:t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Nemmi, F., Helander, E., Helenius, O., Almeida, R., Hassler, M., Räsänen, P., &amp; Klingberg, T. (2016). Behavior and neuroimaging at baseline predict individual response to combined mathematical and working memory training in children. Developmental Cognitive Neuroscience, 20, 43-51.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Gabrieli, J. D., Ghosh, S. S., &amp; Whitfield-Gabrieli, S. (2015). Prediction as a humanitarian and pragmatic contribution from human cognitive neuroscience. Neuron, 85(1), 11-26.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Berger, E. M., Fehr, E., Hermes, H., Schunk, D., &amp; Winkel, K. (2025). The Impact of Working-Memory Training on Children’s Cognitive and Noncognitive Skills. Journal of Political Economy, 133(2), 492-521.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Friston KJ, Harrison L, Penny W. Dynamic causal modelling. Neuroimage. 2003 Aug;19(4):1273-302. doi: 10.1016/s1053-8119(03)00202-7. PMID: 12948688.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7433575" y="39407525"/>
            <a:ext cx="8385600" cy="3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solidFill>
                  <a:schemeClr val="lt1"/>
                </a:solidFill>
              </a:rPr>
              <a:t>Andreas Lidström, Torkel Klingberg</a:t>
            </a:r>
            <a:endParaRPr sz="6000">
              <a:solidFill>
                <a:schemeClr val="lt1"/>
              </a:solidFill>
            </a:endParaRPr>
          </a:p>
        </p:txBody>
      </p:sp>
      <p:grpSp>
        <p:nvGrpSpPr>
          <p:cNvPr id="62" name="Google Shape;62;p13"/>
          <p:cNvGrpSpPr/>
          <p:nvPr/>
        </p:nvGrpSpPr>
        <p:grpSpPr>
          <a:xfrm>
            <a:off x="441965" y="10174045"/>
            <a:ext cx="10164754" cy="9542367"/>
            <a:chOff x="441975" y="5865250"/>
            <a:chExt cx="14755050" cy="13851600"/>
          </a:xfrm>
        </p:grpSpPr>
        <p:sp>
          <p:nvSpPr>
            <p:cNvPr id="63" name="Google Shape;63;p13"/>
            <p:cNvSpPr/>
            <p:nvPr/>
          </p:nvSpPr>
          <p:spPr>
            <a:xfrm>
              <a:off x="441975" y="5865250"/>
              <a:ext cx="14678100" cy="1385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4" name="Google Shape;64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8175" y="8797450"/>
              <a:ext cx="14542050" cy="6525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3"/>
            <p:cNvSpPr txBox="1"/>
            <p:nvPr/>
          </p:nvSpPr>
          <p:spPr>
            <a:xfrm>
              <a:off x="506000" y="5935275"/>
              <a:ext cx="145419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solidFill>
                    <a:schemeClr val="dk2"/>
                  </a:solidFill>
                </a:rPr>
                <a:t>Training mix affects</a:t>
              </a:r>
              <a:endParaRPr sz="6000">
                <a:solidFill>
                  <a:schemeClr val="dk2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solidFill>
                    <a:schemeClr val="dk2"/>
                  </a:solidFill>
                </a:rPr>
                <a:t>Math trajectory</a:t>
              </a:r>
              <a:endParaRPr sz="6000">
                <a:solidFill>
                  <a:schemeClr val="dk2"/>
                </a:solidFill>
              </a:endParaRPr>
            </a:p>
          </p:txBody>
        </p:sp>
        <p:sp>
          <p:nvSpPr>
            <p:cNvPr id="66" name="Google Shape;66;p13"/>
            <p:cNvSpPr txBox="1"/>
            <p:nvPr/>
          </p:nvSpPr>
          <p:spPr>
            <a:xfrm>
              <a:off x="654825" y="16185425"/>
              <a:ext cx="14542200" cy="35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>
                  <a:solidFill>
                    <a:schemeClr val="dk2"/>
                  </a:solidFill>
                </a:rPr>
                <a:t>NLT=Number-Line Training.</a:t>
              </a:r>
              <a:endParaRPr sz="400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>
                  <a:solidFill>
                    <a:schemeClr val="dk2"/>
                  </a:solidFill>
                </a:rPr>
                <a:t>WM=Working Memory.</a:t>
              </a:r>
              <a:endParaRPr sz="400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>
                  <a:solidFill>
                    <a:schemeClr val="dk2"/>
                  </a:solidFill>
                </a:rPr>
                <a:t>Shaded Areas=SEM.</a:t>
              </a:r>
              <a:endParaRPr sz="4000">
                <a:solidFill>
                  <a:schemeClr val="dk2"/>
                </a:solidFill>
              </a:endParaRPr>
            </a:p>
          </p:txBody>
        </p:sp>
      </p:grpSp>
      <p:grpSp>
        <p:nvGrpSpPr>
          <p:cNvPr id="67" name="Google Shape;67;p13"/>
          <p:cNvGrpSpPr/>
          <p:nvPr/>
        </p:nvGrpSpPr>
        <p:grpSpPr>
          <a:xfrm>
            <a:off x="441975" y="20318900"/>
            <a:ext cx="29272325" cy="13851600"/>
            <a:chOff x="441975" y="20776100"/>
            <a:chExt cx="29272325" cy="13851600"/>
          </a:xfrm>
        </p:grpSpPr>
        <p:sp>
          <p:nvSpPr>
            <p:cNvPr id="68" name="Google Shape;68;p13"/>
            <p:cNvSpPr/>
            <p:nvPr/>
          </p:nvSpPr>
          <p:spPr>
            <a:xfrm>
              <a:off x="441975" y="20776100"/>
              <a:ext cx="29270100" cy="1385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444200" y="20846125"/>
              <a:ext cx="292701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0">
                  <a:solidFill>
                    <a:schemeClr val="dk2"/>
                  </a:solidFill>
                </a:rPr>
                <a:t>Dynamic Causal Model of longitudinal connectivity-changes</a:t>
              </a:r>
              <a:endParaRPr sz="7000">
                <a:solidFill>
                  <a:schemeClr val="dk2"/>
                </a:solidFill>
              </a:endParaRPr>
            </a:p>
          </p:txBody>
        </p:sp>
        <p:pic>
          <p:nvPicPr>
            <p:cNvPr id="70" name="Google Shape;70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16825" y="22512925"/>
              <a:ext cx="13050779" cy="9704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71;p13"/>
            <p:cNvSpPr txBox="1"/>
            <p:nvPr/>
          </p:nvSpPr>
          <p:spPr>
            <a:xfrm>
              <a:off x="516774" y="32484500"/>
              <a:ext cx="28042500" cy="21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>
                  <a:solidFill>
                    <a:schemeClr val="dk2"/>
                  </a:solidFill>
                </a:rPr>
                <a:t>Changes after training.</a:t>
              </a:r>
              <a:endParaRPr sz="400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>
                  <a:solidFill>
                    <a:schemeClr val="dk2"/>
                  </a:solidFill>
                </a:rPr>
                <a:t>Values=parameter strengths(Hertz). Letters=covariates predicted by LOO analysis.</a:t>
              </a:r>
              <a:endParaRPr sz="400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>
                  <a:solidFill>
                    <a:schemeClr val="dk2"/>
                  </a:solidFill>
                </a:rPr>
                <a:t>Green=Excitatory. Red=Inhibitory</a:t>
              </a:r>
              <a:endParaRPr sz="4000"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16276325" y="23399775"/>
              <a:ext cx="12884100" cy="8274300"/>
            </a:xfrm>
            <a:prstGeom prst="roundRect">
              <a:avLst>
                <a:gd fmla="val 16667" name="adj"/>
              </a:avLst>
            </a:prstGeom>
            <a:solidFill>
              <a:srgbClr val="F2867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0">
                  <a:solidFill>
                    <a:schemeClr val="dk1"/>
                  </a:solidFill>
                </a:rPr>
                <a:t>Conclusions:</a:t>
              </a:r>
              <a:endParaRPr b="1" sz="70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0">
                <a:solidFill>
                  <a:schemeClr val="dk1"/>
                </a:solidFill>
              </a:endParaRPr>
            </a:p>
            <a:p>
              <a:pPr indent="-546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0"/>
                <a:buChar char="●"/>
              </a:pPr>
              <a:r>
                <a:rPr lang="en" sz="5000">
                  <a:solidFill>
                    <a:schemeClr val="dk1"/>
                  </a:solidFill>
                </a:rPr>
                <a:t>DCM reveals training-specific changes.</a:t>
              </a:r>
              <a:endParaRPr sz="5000">
                <a:solidFill>
                  <a:schemeClr val="dk1"/>
                </a:solidFill>
              </a:endParaRPr>
            </a:p>
            <a:p>
              <a:pPr indent="-546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0"/>
                <a:buChar char="●"/>
              </a:pPr>
              <a:r>
                <a:rPr lang="en" sz="5000">
                  <a:solidFill>
                    <a:schemeClr val="dk1"/>
                  </a:solidFill>
                </a:rPr>
                <a:t>DCM predicts math improvement rate.</a:t>
              </a:r>
              <a:endParaRPr sz="5000">
                <a:solidFill>
                  <a:schemeClr val="dk1"/>
                </a:solidFill>
              </a:endParaRPr>
            </a:p>
            <a:p>
              <a:pPr indent="-546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0"/>
                <a:buChar char="●"/>
              </a:pPr>
              <a:r>
                <a:rPr lang="en" sz="5000">
                  <a:solidFill>
                    <a:schemeClr val="dk1"/>
                  </a:solidFill>
                </a:rPr>
                <a:t>Connectivity can be more sensitive than peak task BOLD levels.</a:t>
              </a:r>
              <a:endParaRPr sz="5000">
                <a:solidFill>
                  <a:schemeClr val="dk1"/>
                </a:solidFill>
              </a:endParaRPr>
            </a:p>
            <a:p>
              <a:pPr indent="-546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0"/>
                <a:buChar char="●"/>
              </a:pPr>
              <a:r>
                <a:rPr lang="en" sz="5000">
                  <a:solidFill>
                    <a:schemeClr val="dk1"/>
                  </a:solidFill>
                </a:rPr>
                <a:t>Training-specific biomarkers are potentially </a:t>
              </a:r>
              <a:r>
                <a:rPr lang="en" sz="5000">
                  <a:solidFill>
                    <a:schemeClr val="dk1"/>
                  </a:solidFill>
                </a:rPr>
                <a:t>useful</a:t>
              </a:r>
              <a:r>
                <a:rPr lang="en" sz="5000">
                  <a:solidFill>
                    <a:schemeClr val="dk1"/>
                  </a:solidFill>
                </a:rPr>
                <a:t> in curriculum- or  intervention-evaluation.</a:t>
              </a:r>
              <a:endParaRPr sz="5000">
                <a:solidFill>
                  <a:schemeClr val="dk1"/>
                </a:solidFill>
              </a:endParaRPr>
            </a:p>
          </p:txBody>
        </p:sp>
      </p:grpSp>
      <p:sp>
        <p:nvSpPr>
          <p:cNvPr id="73" name="Google Shape;73;p13"/>
          <p:cNvSpPr txBox="1"/>
          <p:nvPr/>
        </p:nvSpPr>
        <p:spPr>
          <a:xfrm>
            <a:off x="15819125" y="39407525"/>
            <a:ext cx="10706400" cy="3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600">
                <a:solidFill>
                  <a:schemeClr val="lt1"/>
                </a:solidFill>
              </a:rPr>
              <a:t>andreas.lidstrom.2@ki.se</a:t>
            </a:r>
            <a:endParaRPr i="1" sz="3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</a:rPr>
              <a:t>Karolinska Institute, Department of Neuroscience, </a:t>
            </a:r>
            <a:r>
              <a:rPr i="1" lang="en" sz="3600">
                <a:solidFill>
                  <a:schemeClr val="lt1"/>
                </a:solidFill>
              </a:rPr>
              <a:t>C4 Neurovetenskap, C4 Forskning Klingberg, 171 77 Stockholm, Sweden</a:t>
            </a:r>
            <a:endParaRPr sz="3600">
              <a:solidFill>
                <a:schemeClr val="lt1"/>
              </a:solidFill>
            </a:endParaRPr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525400" y="39125400"/>
            <a:ext cx="3714601" cy="37146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/>
          <p:nvPr/>
        </p:nvSpPr>
        <p:spPr>
          <a:xfrm>
            <a:off x="468468" y="5821597"/>
            <a:ext cx="29270100" cy="3898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/>
          <p:nvPr/>
        </p:nvSpPr>
        <p:spPr>
          <a:xfrm>
            <a:off x="21222050" y="10202950"/>
            <a:ext cx="8577000" cy="954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11108796" y="10173941"/>
            <a:ext cx="9611177" cy="958253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13"/>
          <p:cNvGrpSpPr/>
          <p:nvPr/>
        </p:nvGrpSpPr>
        <p:grpSpPr>
          <a:xfrm>
            <a:off x="11108796" y="10222383"/>
            <a:ext cx="9611177" cy="9623872"/>
            <a:chOff x="11108796" y="10222383"/>
            <a:chExt cx="9611177" cy="9623872"/>
          </a:xfrm>
        </p:grpSpPr>
        <p:pic>
          <p:nvPicPr>
            <p:cNvPr id="79" name="Google Shape;79;p13"/>
            <p:cNvPicPr preferRelativeResize="0"/>
            <p:nvPr/>
          </p:nvPicPr>
          <p:blipFill rotWithShape="1">
            <a:blip r:embed="rId8">
              <a:alphaModFix/>
            </a:blip>
            <a:srcRect b="0" l="0" r="67500" t="0"/>
            <a:stretch/>
          </p:blipFill>
          <p:spPr>
            <a:xfrm>
              <a:off x="11209072" y="10854965"/>
              <a:ext cx="9359483" cy="79379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13"/>
            <p:cNvSpPr/>
            <p:nvPr/>
          </p:nvSpPr>
          <p:spPr>
            <a:xfrm>
              <a:off x="11262461" y="10735392"/>
              <a:ext cx="727843" cy="98851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 txBox="1"/>
            <p:nvPr/>
          </p:nvSpPr>
          <p:spPr>
            <a:xfrm>
              <a:off x="11265886" y="18857742"/>
              <a:ext cx="9454070" cy="9885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>
                  <a:solidFill>
                    <a:schemeClr val="dk2"/>
                  </a:solidFill>
                </a:rPr>
                <a:t>p&lt;0.001 uncorrected, *=p&lt;0.05(FWE)</a:t>
              </a:r>
              <a:endParaRPr sz="4000">
                <a:solidFill>
                  <a:schemeClr val="dk2"/>
                </a:solidFill>
              </a:endParaRPr>
            </a:p>
          </p:txBody>
        </p:sp>
        <p:sp>
          <p:nvSpPr>
            <p:cNvPr id="82" name="Google Shape;82;p13"/>
            <p:cNvSpPr txBox="1"/>
            <p:nvPr/>
          </p:nvSpPr>
          <p:spPr>
            <a:xfrm>
              <a:off x="11108796" y="10222383"/>
              <a:ext cx="9611177" cy="115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solidFill>
                    <a:schemeClr val="dk2"/>
                  </a:solidFill>
                </a:rPr>
                <a:t>WM-task BOLD activity</a:t>
              </a:r>
              <a:endParaRPr sz="6000">
                <a:solidFill>
                  <a:schemeClr val="dk2"/>
                </a:solidFill>
              </a:endParaRPr>
            </a:p>
          </p:txBody>
        </p:sp>
      </p:grpSp>
      <p:sp>
        <p:nvSpPr>
          <p:cNvPr id="83" name="Google Shape;83;p13"/>
          <p:cNvSpPr txBox="1"/>
          <p:nvPr/>
        </p:nvSpPr>
        <p:spPr>
          <a:xfrm>
            <a:off x="693425" y="6073150"/>
            <a:ext cx="29105700" cy="3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dk2"/>
                </a:solidFill>
              </a:rPr>
              <a:t>Aims and hypothesis:</a:t>
            </a:r>
            <a:endParaRPr b="1" sz="5000">
              <a:solidFill>
                <a:schemeClr val="dk2"/>
              </a:solidFill>
            </a:endParaRPr>
          </a:p>
          <a:p>
            <a:pPr indent="-546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Char char="●"/>
            </a:pPr>
            <a:r>
              <a:rPr lang="en" sz="5000">
                <a:solidFill>
                  <a:schemeClr val="dk2"/>
                </a:solidFill>
              </a:rPr>
              <a:t>What is the better biomarker for </a:t>
            </a:r>
            <a:r>
              <a:rPr lang="en" sz="5000">
                <a:solidFill>
                  <a:schemeClr val="dk2"/>
                </a:solidFill>
              </a:rPr>
              <a:t>learning-related change;</a:t>
            </a:r>
            <a:r>
              <a:rPr lang="en" sz="5000">
                <a:solidFill>
                  <a:schemeClr val="dk2"/>
                </a:solidFill>
              </a:rPr>
              <a:t> </a:t>
            </a:r>
            <a:r>
              <a:rPr lang="en" sz="5000">
                <a:solidFill>
                  <a:schemeClr val="dk2"/>
                </a:solidFill>
              </a:rPr>
              <a:t>effective</a:t>
            </a:r>
            <a:r>
              <a:rPr lang="en" sz="5000">
                <a:solidFill>
                  <a:schemeClr val="dk2"/>
                </a:solidFill>
              </a:rPr>
              <a:t> connectivity or peak task activity?</a:t>
            </a:r>
            <a:endParaRPr sz="5000">
              <a:solidFill>
                <a:schemeClr val="dk2"/>
              </a:solidFill>
            </a:endParaRPr>
          </a:p>
          <a:p>
            <a:pPr indent="-546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Char char="●"/>
            </a:pPr>
            <a:r>
              <a:rPr lang="en" sz="5000">
                <a:solidFill>
                  <a:schemeClr val="dk2"/>
                </a:solidFill>
              </a:rPr>
              <a:t>Is there utility in using cognitive n</a:t>
            </a:r>
            <a:r>
              <a:rPr lang="en" sz="5000">
                <a:solidFill>
                  <a:schemeClr val="dk2"/>
                </a:solidFill>
              </a:rPr>
              <a:t>euroscience</a:t>
            </a:r>
            <a:r>
              <a:rPr lang="en" sz="5000">
                <a:solidFill>
                  <a:schemeClr val="dk2"/>
                </a:solidFill>
              </a:rPr>
              <a:t> for evaluating educational interventions?</a:t>
            </a:r>
            <a:endParaRPr sz="5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</a:rPr>
              <a:t>To answer this, we analysed 54 6-year-olds with longitudinal fMRI, before and after cognitive training.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21482825" y="10454425"/>
            <a:ext cx="7987800" cy="90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dk2"/>
                </a:solidFill>
              </a:rPr>
              <a:t>Results:</a:t>
            </a:r>
            <a:endParaRPr b="1" sz="5000">
              <a:solidFill>
                <a:schemeClr val="dk2"/>
              </a:solidFill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Char char="●"/>
            </a:pPr>
            <a:r>
              <a:rPr lang="en" sz="4000">
                <a:solidFill>
                  <a:schemeClr val="dk2"/>
                </a:solidFill>
              </a:rPr>
              <a:t>Significant difference in math outcome between children with both math and WM training and those with math and reading.</a:t>
            </a:r>
            <a:endParaRPr sz="4000">
              <a:solidFill>
                <a:schemeClr val="dk2"/>
              </a:solidFill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Char char="●"/>
            </a:pPr>
            <a:r>
              <a:rPr lang="en" sz="4000">
                <a:solidFill>
                  <a:schemeClr val="dk2"/>
                </a:solidFill>
              </a:rPr>
              <a:t>rSFG is active during a WM task, but shows no significant changes in </a:t>
            </a:r>
            <a:r>
              <a:rPr lang="en" sz="4000">
                <a:solidFill>
                  <a:schemeClr val="dk2"/>
                </a:solidFill>
              </a:rPr>
              <a:t>task activity</a:t>
            </a:r>
            <a:r>
              <a:rPr lang="en" sz="4000">
                <a:solidFill>
                  <a:schemeClr val="dk2"/>
                </a:solidFill>
              </a:rPr>
              <a:t> after training.</a:t>
            </a:r>
            <a:endParaRPr sz="4000">
              <a:solidFill>
                <a:schemeClr val="dk2"/>
              </a:solidFill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Char char="●"/>
            </a:pPr>
            <a:r>
              <a:rPr lang="en" sz="4000">
                <a:solidFill>
                  <a:schemeClr val="dk2"/>
                </a:solidFill>
              </a:rPr>
              <a:t>DCM shows that connectivity changes after training and can predict both training </a:t>
            </a:r>
            <a:r>
              <a:rPr lang="en" sz="4000">
                <a:solidFill>
                  <a:schemeClr val="dk2"/>
                </a:solidFill>
              </a:rPr>
              <a:t>conditions</a:t>
            </a:r>
            <a:r>
              <a:rPr lang="en" sz="4000">
                <a:solidFill>
                  <a:schemeClr val="dk2"/>
                </a:solidFill>
              </a:rPr>
              <a:t> and math improvement rate.</a:t>
            </a:r>
            <a:endParaRPr sz="4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