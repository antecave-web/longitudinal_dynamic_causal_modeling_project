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800066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EEB"/>
    <a:srgbClr val="FF8972"/>
    <a:srgbClr val="8A0053"/>
    <a:srgbClr val="ECF5F4"/>
    <a:srgbClr val="FFFFFF"/>
    <a:srgbClr val="5A0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03" autoAdjust="0"/>
  </p:normalViewPr>
  <p:slideViewPr>
    <p:cSldViewPr snapToGrid="0">
      <p:cViewPr varScale="1">
        <p:scale>
          <a:sx n="82" d="100"/>
          <a:sy n="82" d="100"/>
        </p:scale>
        <p:origin x="15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98A2FE-724B-40C1-88AE-D8A9C06223EF}" type="datetimeFigureOut">
              <a:rPr lang="LID4096" smtClean="0"/>
              <a:t>03/25/2025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28625" y="1143000"/>
            <a:ext cx="7715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BBB86-7C8C-4405-B09D-E3F565A25CD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6125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1pPr>
    <a:lvl2pPr marL="604784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2pPr>
    <a:lvl3pPr marL="1209568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3pPr>
    <a:lvl4pPr marL="1814352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4pPr>
    <a:lvl5pPr marL="2419137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5pPr>
    <a:lvl6pPr marL="3023921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6pPr>
    <a:lvl7pPr marL="3628705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7pPr>
    <a:lvl8pPr marL="4233489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8pPr>
    <a:lvl9pPr marL="4838273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BBB86-7C8C-4405-B09D-E3F565A25CD1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53600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78222"/>
            <a:ext cx="13500497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781306"/>
            <a:ext cx="13500497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69" indent="0" algn="ctr">
              <a:buNone/>
              <a:defRPr sz="2100"/>
            </a:lvl2pPr>
            <a:lvl3pPr marL="959937" indent="0" algn="ctr">
              <a:buNone/>
              <a:defRPr sz="1890"/>
            </a:lvl3pPr>
            <a:lvl4pPr marL="1439906" indent="0" algn="ctr">
              <a:buNone/>
              <a:defRPr sz="1680"/>
            </a:lvl4pPr>
            <a:lvl5pPr marL="1919874" indent="0" algn="ctr">
              <a:buNone/>
              <a:defRPr sz="1680"/>
            </a:lvl5pPr>
            <a:lvl6pPr marL="2399843" indent="0" algn="ctr">
              <a:buNone/>
              <a:defRPr sz="1680"/>
            </a:lvl6pPr>
            <a:lvl7pPr marL="2879811" indent="0" algn="ctr">
              <a:buNone/>
              <a:defRPr sz="1680"/>
            </a:lvl7pPr>
            <a:lvl8pPr marL="3359780" indent="0" algn="ctr">
              <a:buNone/>
              <a:defRPr sz="1680"/>
            </a:lvl8pPr>
            <a:lvl9pPr marL="3839748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4345-6B2A-4C75-A631-4ED681E1CCC4}" type="datetimeFigureOut">
              <a:rPr lang="LID4096" smtClean="0"/>
              <a:t>03/25/2025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5A31-DDA7-4132-8FF3-405AD2417F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38226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4345-6B2A-4C75-A631-4ED681E1CCC4}" type="datetimeFigureOut">
              <a:rPr lang="LID4096" smtClean="0"/>
              <a:t>03/25/2025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5A31-DDA7-4132-8FF3-405AD2417F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3569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94830"/>
            <a:ext cx="15525572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817875"/>
            <a:ext cx="15525572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1pPr>
            <a:lvl2pPr marL="479969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5993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3990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19874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399843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79811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597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39748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4345-6B2A-4C75-A631-4ED681E1CCC4}" type="datetimeFigureOut">
              <a:rPr lang="LID4096" smtClean="0"/>
              <a:t>03/25/2025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5A31-DDA7-4132-8FF3-405AD2417F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7530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916484"/>
            <a:ext cx="7650282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916484"/>
            <a:ext cx="7650282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4345-6B2A-4C75-A631-4ED681E1CCC4}" type="datetimeFigureOut">
              <a:rPr lang="LID4096" smtClean="0"/>
              <a:t>03/25/2025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5A31-DDA7-4132-8FF3-405AD2417F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55968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83297"/>
            <a:ext cx="15525572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764832"/>
            <a:ext cx="7615123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629749"/>
            <a:ext cx="7615123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764832"/>
            <a:ext cx="7652626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629749"/>
            <a:ext cx="7652626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4345-6B2A-4C75-A631-4ED681E1CCC4}" type="datetimeFigureOut">
              <a:rPr lang="LID4096" smtClean="0"/>
              <a:t>03/25/2025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5A31-DDA7-4132-8FF3-405AD2417F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6444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4345-6B2A-4C75-A631-4ED681E1CCC4}" type="datetimeFigureOut">
              <a:rPr lang="LID4096" smtClean="0"/>
              <a:t>03/25/2025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5A31-DDA7-4132-8FF3-405AD2417F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526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4345-6B2A-4C75-A631-4ED681E1CCC4}" type="datetimeFigureOut">
              <a:rPr lang="LID4096" smtClean="0"/>
              <a:t>03/25/2025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5A31-DDA7-4132-8FF3-405AD2417F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289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79954"/>
            <a:ext cx="5805682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036569"/>
            <a:ext cx="9112836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159794"/>
            <a:ext cx="5805682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4345-6B2A-4C75-A631-4ED681E1CCC4}" type="datetimeFigureOut">
              <a:rPr lang="LID4096" smtClean="0"/>
              <a:t>03/25/2025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5A31-DDA7-4132-8FF3-405AD2417F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0022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79954"/>
            <a:ext cx="5805682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036569"/>
            <a:ext cx="9112836" cy="5116178"/>
          </a:xfrm>
        </p:spPr>
        <p:txBody>
          <a:bodyPr anchor="t"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159794"/>
            <a:ext cx="5805682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4345-6B2A-4C75-A631-4ED681E1CCC4}" type="datetimeFigureOut">
              <a:rPr lang="LID4096" smtClean="0"/>
              <a:t>03/25/2025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5A31-DDA7-4132-8FF3-405AD2417F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9836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4345-6B2A-4C75-A631-4ED681E1CCC4}" type="datetimeFigureOut">
              <a:rPr lang="LID4096" smtClean="0"/>
              <a:t>03/25/2025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5A31-DDA7-4132-8FF3-405AD2417F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29209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83297"/>
            <a:ext cx="3881393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83297"/>
            <a:ext cx="11419171" cy="61010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4345-6B2A-4C75-A631-4ED681E1CCC4}" type="datetimeFigureOut">
              <a:rPr lang="LID4096" smtClean="0"/>
              <a:t>03/25/2025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75A31-DDA7-4132-8FF3-405AD2417F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91794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83297"/>
            <a:ext cx="15525572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916484"/>
            <a:ext cx="15525572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672697"/>
            <a:ext cx="405014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E4345-6B2A-4C75-A631-4ED681E1CCC4}" type="datetimeFigureOut">
              <a:rPr lang="LID4096" smtClean="0"/>
              <a:t>03/25/2025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672697"/>
            <a:ext cx="6075224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672697"/>
            <a:ext cx="4050149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75A31-DDA7-4132-8FF3-405AD2417F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5303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59937" rtl="0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4" indent="-239984" algn="l" defTabSz="95993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FE3025A6-21CF-FF92-DF79-664048661452}"/>
              </a:ext>
            </a:extLst>
          </p:cNvPr>
          <p:cNvSpPr/>
          <p:nvPr/>
        </p:nvSpPr>
        <p:spPr>
          <a:xfrm>
            <a:off x="9000332" y="871355"/>
            <a:ext cx="9000331" cy="6327958"/>
          </a:xfrm>
          <a:prstGeom prst="rect">
            <a:avLst/>
          </a:prstGeom>
          <a:solidFill>
            <a:srgbClr val="ECF5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61C4E1-D467-B286-0770-D2AA1D08A23C}"/>
              </a:ext>
            </a:extLst>
          </p:cNvPr>
          <p:cNvSpPr/>
          <p:nvPr/>
        </p:nvSpPr>
        <p:spPr>
          <a:xfrm>
            <a:off x="0" y="0"/>
            <a:ext cx="18000662" cy="871355"/>
          </a:xfrm>
          <a:prstGeom prst="rect">
            <a:avLst/>
          </a:prstGeom>
          <a:solidFill>
            <a:srgbClr val="FDEE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D44418-3CE3-BA80-E78D-BC188A1FC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7646"/>
            <a:ext cx="18000662" cy="574604"/>
          </a:xfrm>
        </p:spPr>
        <p:txBody>
          <a:bodyPr>
            <a:noAutofit/>
          </a:bodyPr>
          <a:lstStyle/>
          <a:p>
            <a:pPr rtl="0"/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Effective Connectivity Reveals Training-Specific Neural Plasticity and Predicts Learning Gains in Children: A Dynamic Causal Modeling Study</a:t>
            </a:r>
            <a:endParaRPr lang="LID4096" sz="6000" dirty="0"/>
          </a:p>
        </p:txBody>
      </p:sp>
      <p:pic>
        <p:nvPicPr>
          <p:cNvPr id="33" name="Google Shape;68;p14">
            <a:extLst>
              <a:ext uri="{FF2B5EF4-FFF2-40B4-BE49-F238E27FC236}">
                <a16:creationId xmlns:a16="http://schemas.microsoft.com/office/drawing/2014/main" id="{237BFB64-A498-4FE3-7C55-1BCAF28E002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169" y="1710676"/>
            <a:ext cx="7085990" cy="3172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4D8CC56-3A42-9199-DC56-835068FE47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31"/>
          <a:stretch/>
        </p:blipFill>
        <p:spPr>
          <a:xfrm>
            <a:off x="11383174" y="2495507"/>
            <a:ext cx="4234643" cy="30355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32" name="Picture 8" descr="Vit analog logotyp liggande mot mörk bakgrund (plommon)">
            <a:extLst>
              <a:ext uri="{FF2B5EF4-FFF2-40B4-BE49-F238E27FC236}">
                <a16:creationId xmlns:a16="http://schemas.microsoft.com/office/drawing/2014/main" id="{668EB085-506E-EFE7-D8EC-E09BFDC3B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74959"/>
            <a:ext cx="2848708" cy="142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4A0D421-31B8-C006-F3FC-AA2C2DB400C0}"/>
              </a:ext>
            </a:extLst>
          </p:cNvPr>
          <p:cNvSpPr/>
          <p:nvPr/>
        </p:nvSpPr>
        <p:spPr>
          <a:xfrm>
            <a:off x="2719754" y="5774959"/>
            <a:ext cx="6280577" cy="1424354"/>
          </a:xfrm>
          <a:prstGeom prst="rect">
            <a:avLst/>
          </a:prstGeom>
          <a:solidFill>
            <a:srgbClr val="5A0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C87EA9-0276-BAF2-6EF5-1A691F7C6127}"/>
              </a:ext>
            </a:extLst>
          </p:cNvPr>
          <p:cNvSpPr txBox="1"/>
          <p:nvPr/>
        </p:nvSpPr>
        <p:spPr>
          <a:xfrm>
            <a:off x="637413" y="1018179"/>
            <a:ext cx="7725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Children trained on Working Memory and Math tasks have different learning trajectories than children with Math and Reading only.</a:t>
            </a:r>
            <a:endParaRPr lang="LID4096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500CAB-4155-DE6D-5309-549710FDD834}"/>
              </a:ext>
            </a:extLst>
          </p:cNvPr>
          <p:cNvSpPr txBox="1"/>
          <p:nvPr/>
        </p:nvSpPr>
        <p:spPr>
          <a:xfrm>
            <a:off x="2719753" y="5946212"/>
            <a:ext cx="61663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Andreas </a:t>
            </a:r>
            <a:r>
              <a:rPr lang="en-GB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Lidström</a:t>
            </a:r>
            <a:r>
              <a:rPr lang="en-GB" b="0" i="0" u="none" strike="noStrike" baseline="30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Torkel </a:t>
            </a:r>
            <a:r>
              <a:rPr lang="en-GB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Klingberg</a:t>
            </a:r>
            <a:r>
              <a:rPr lang="en-GB" b="0" i="0" u="none" strike="noStrike" baseline="30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b="0" i="0" u="none" strike="noStrike" baseline="30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endParaRPr lang="en-GB" b="0" i="0" u="none" strike="noStrike" baseline="3000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GB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b="0" i="0" u="none" strike="noStrike" baseline="300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sz="14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Karolinska</a:t>
            </a:r>
            <a:r>
              <a:rPr lang="en-GB" sz="14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Institute, Department of Neuroscience, </a:t>
            </a:r>
            <a:r>
              <a:rPr lang="en-GB" sz="1400" b="0" i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C4 </a:t>
            </a:r>
            <a:r>
              <a:rPr lang="en-GB" sz="1400" b="0" i="1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Neurovetenskap</a:t>
            </a:r>
            <a:r>
              <a:rPr lang="en-GB" sz="1400" b="0" i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C4 </a:t>
            </a:r>
            <a:r>
              <a:rPr lang="en-GB" sz="1400" b="0" i="1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Forskning</a:t>
            </a:r>
            <a:r>
              <a:rPr lang="en-GB" sz="1400" b="0" i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Klingberg, 171 77 Stockholm, Sweden</a:t>
            </a:r>
            <a:endParaRPr lang="LID4096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EEB89F-EFD0-DDDA-A2AE-D9D431B4E9A3}"/>
              </a:ext>
            </a:extLst>
          </p:cNvPr>
          <p:cNvSpPr txBox="1"/>
          <p:nvPr/>
        </p:nvSpPr>
        <p:spPr>
          <a:xfrm>
            <a:off x="637411" y="4929623"/>
            <a:ext cx="7725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54 primary school children underwent longitudinal fMRI scans, performing a Working Memory task in the scanner before and after digital cognitive training.</a:t>
            </a:r>
            <a:endParaRPr lang="LID4096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E56AE5-3B6F-A217-3E08-2C62D974E859}"/>
              </a:ext>
            </a:extLst>
          </p:cNvPr>
          <p:cNvSpPr txBox="1"/>
          <p:nvPr/>
        </p:nvSpPr>
        <p:spPr>
          <a:xfrm>
            <a:off x="9637743" y="1018179"/>
            <a:ext cx="7725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BOLD amplitude does not fully capture training-induced plasticity.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Causal Modelling (DCM), measuring (directional) Effective Connectivity reveals training-induced plasticity changes that can also differentiate between the  training conditions.</a:t>
            </a:r>
            <a:endParaRPr lang="LID4096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28B7FE8-14A7-921F-BCFE-FB75A368E39D}"/>
              </a:ext>
            </a:extLst>
          </p:cNvPr>
          <p:cNvSpPr/>
          <p:nvPr/>
        </p:nvSpPr>
        <p:spPr>
          <a:xfrm>
            <a:off x="10224860" y="5660020"/>
            <a:ext cx="6551270" cy="1363409"/>
          </a:xfrm>
          <a:prstGeom prst="roundRect">
            <a:avLst/>
          </a:prstGeom>
          <a:solidFill>
            <a:srgbClr val="FDEE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This highlights DCM as a tool for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evaluating the effectiveness of interventions by measuring specific connectivity parameters, enabling us to improve shared underlying cognitive machinery.</a:t>
            </a:r>
            <a:endParaRPr lang="LID4096" dirty="0"/>
          </a:p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18073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</TotalTime>
  <Words>150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Effective Connectivity Reveals Training-Specific Neural Plasticity and Predicts Learning Gains in Children: A Dynamic Causal Modeling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Lidström</dc:creator>
  <cp:lastModifiedBy>Andreas Lidström</cp:lastModifiedBy>
  <cp:revision>7</cp:revision>
  <dcterms:created xsi:type="dcterms:W3CDTF">2025-03-25T10:58:40Z</dcterms:created>
  <dcterms:modified xsi:type="dcterms:W3CDTF">2025-03-25T11:37:54Z</dcterms:modified>
</cp:coreProperties>
</file>